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85" r:id="rId2"/>
    <p:sldId id="286" r:id="rId3"/>
    <p:sldId id="287" r:id="rId4"/>
    <p:sldId id="288" r:id="rId5"/>
    <p:sldId id="290" r:id="rId6"/>
    <p:sldId id="291" r:id="rId7"/>
    <p:sldId id="292" r:id="rId8"/>
    <p:sldId id="298" r:id="rId9"/>
    <p:sldId id="321" r:id="rId10"/>
    <p:sldId id="322" r:id="rId11"/>
    <p:sldId id="300" r:id="rId12"/>
    <p:sldId id="305" r:id="rId13"/>
    <p:sldId id="301" r:id="rId14"/>
    <p:sldId id="293" r:id="rId15"/>
    <p:sldId id="294" r:id="rId16"/>
    <p:sldId id="296" r:id="rId17"/>
    <p:sldId id="303" r:id="rId18"/>
    <p:sldId id="307" r:id="rId19"/>
    <p:sldId id="310" r:id="rId20"/>
    <p:sldId id="311" r:id="rId21"/>
    <p:sldId id="309" r:id="rId22"/>
    <p:sldId id="312" r:id="rId23"/>
    <p:sldId id="313" r:id="rId24"/>
    <p:sldId id="314" r:id="rId25"/>
    <p:sldId id="315" r:id="rId26"/>
    <p:sldId id="316" r:id="rId27"/>
    <p:sldId id="318" r:id="rId28"/>
    <p:sldId id="319" r:id="rId29"/>
    <p:sldId id="281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B88BD77-EF43-4348-8C3E-011D97CC806E}">
          <p14:sldIdLst>
            <p14:sldId id="285"/>
            <p14:sldId id="286"/>
            <p14:sldId id="287"/>
            <p14:sldId id="288"/>
            <p14:sldId id="290"/>
            <p14:sldId id="291"/>
            <p14:sldId id="292"/>
            <p14:sldId id="298"/>
            <p14:sldId id="321"/>
            <p14:sldId id="322"/>
            <p14:sldId id="300"/>
            <p14:sldId id="305"/>
            <p14:sldId id="301"/>
            <p14:sldId id="293"/>
            <p14:sldId id="294"/>
            <p14:sldId id="296"/>
            <p14:sldId id="303"/>
            <p14:sldId id="307"/>
            <p14:sldId id="310"/>
            <p14:sldId id="311"/>
            <p14:sldId id="309"/>
            <p14:sldId id="312"/>
            <p14:sldId id="313"/>
            <p14:sldId id="314"/>
            <p14:sldId id="315"/>
            <p14:sldId id="316"/>
            <p14:sldId id="318"/>
            <p14:sldId id="319"/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D9117E"/>
    <a:srgbClr val="5DC1FF"/>
    <a:srgbClr val="37B0FB"/>
    <a:srgbClr val="009AD0"/>
    <a:srgbClr val="94B333"/>
    <a:srgbClr val="BE9600"/>
    <a:srgbClr val="BB9301"/>
    <a:srgbClr val="E8C220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83813" autoAdjust="0"/>
  </p:normalViewPr>
  <p:slideViewPr>
    <p:cSldViewPr snapToGrid="0" showGuides="1">
      <p:cViewPr varScale="1">
        <p:scale>
          <a:sx n="91" d="100"/>
          <a:sy n="91" d="100"/>
        </p:scale>
        <p:origin x="1740" y="90"/>
      </p:cViewPr>
      <p:guideLst>
        <p:guide orient="horz" pos="2160"/>
        <p:guide pos="41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91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E3CC217A-F9D7-47C3-B542-AAA915BA419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E7CD6EC-38D3-4F9F-824F-27FD60C73D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0980D6-5DF0-463D-BFB7-BC7EA5530348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D3B72A2-2A97-46A2-B0E6-3DFA689BB9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749A1E-B8C3-415F-AC4C-200E5AD788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9C69D-BBB7-4804-A517-DD8710202B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55849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535C94-B646-4D4D-A5E3-882C7E78FF5D}" type="datetimeFigureOut">
              <a:rPr lang="de-DE" smtClean="0"/>
              <a:t>23.02.2026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8433A-3D12-444A-8A1F-2969B3EF30A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0615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-There is a large gap in the success of multi-core processors between general-purpose systems  and </a:t>
            </a:r>
            <a:r>
              <a:rPr lang="en-US" dirty="0" err="1"/>
              <a:t>avionivs</a:t>
            </a:r>
            <a:r>
              <a:rPr lang="en-US" dirty="0"/>
              <a:t>. Why?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1938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Multi-Core processors are awesome, we want to use them. But the enabler of theses advantages is at the same time the troublemaker in critical-systems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88219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 few examples of interference channels in COTS hardware.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7056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we do something about it? Yes, static mitigation techniques exist. But they impede directly on the multi-core advantages and are difficult to apply in general.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9136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Trade-Off between Single Core Temporal </a:t>
            </a:r>
            <a:r>
              <a:rPr lang="en-US" dirty="0" err="1"/>
              <a:t>Determinsim</a:t>
            </a:r>
            <a:r>
              <a:rPr lang="en-US" dirty="0"/>
              <a:t>  and Multi-Core Advantages.  What if we could do the trade-off at runtime?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981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ingredients of dynamic mitigation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685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bake a control law.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73011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of dynamic mitigation in contrast to static techniques.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38613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we actually observe the progress? Checkpoints and PMU is already known, but has drawbacks that must be taken into account, but in virtual hardware (interpreter) it becomes easy.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87172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overview over what makes </a:t>
            </a:r>
            <a:r>
              <a:rPr lang="en-US" dirty="0" err="1"/>
              <a:t>wasm</a:t>
            </a:r>
            <a:r>
              <a:rPr lang="en-US" dirty="0"/>
              <a:t> suitable for safety critical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662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fuel work?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1687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does fuel-based observation behave in the context of interference.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3204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Show that the idea works in principle, accepting that this specific implementation is not production grade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98209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quantitative evaluation of the approach.</a:t>
            </a:r>
          </a:p>
          <a:p>
            <a:r>
              <a:rPr lang="en-US" dirty="0"/>
              <a:t>What are the questions we want to answer.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0636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Yes, we can use WASM Fuel to observe progress and interference at runtime.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99842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control-loop is effective.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6171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 an specific example  to show the control loop is working.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4473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it is not efficient. Only a small fraction of multi-core advantages are preserved. 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27496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00364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next?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8433A-3D12-444A-8A1F-2969B3EF30AF}" type="slidenum">
              <a:rPr lang="de-DE" smtClean="0"/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50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E292B943-63E8-4E1E-B31E-5FE3860900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9454"/>
            <a:ext cx="9697665" cy="1141439"/>
          </a:xfrm>
          <a:solidFill>
            <a:schemeClr val="accent1">
              <a:lumMod val="50000"/>
              <a:alpha val="80000"/>
            </a:schemeClr>
          </a:solidFill>
          <a:ln>
            <a:noFill/>
          </a:ln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23750"/>
            <a:ext cx="9541821" cy="3221856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5B16576-B954-4493-9E58-E9C5386E812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58F85F-E39F-6DF2-648B-F85C48FB1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76295D-E20E-919F-946F-82E3A703EF7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1199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2F87A75-3F72-6661-3C8C-5F55ECF6EF1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1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53246B2-203D-4635-9023-C83C1FB1E1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2C564B2-3B65-9088-DFD7-AB7EDE92BA4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48B4FDF-C91E-4E63-9070-D94BAC1B27C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64450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3574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4E99B02-7125-B0DB-A965-82CB442B297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1694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71A67A15-EB3D-B357-6153-033E99D34267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951DB75-C581-BF8A-0FC7-DF33D2FBE0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12C0EA8B-EF64-0432-2FB0-872635D2E4FA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EBECCF2-24E5-51A8-E7D9-E053B81C2C0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8284FDF0-9695-432C-8311-6A507C0F1D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7907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extplatzhalter 20">
            <a:extLst>
              <a:ext uri="{FF2B5EF4-FFF2-40B4-BE49-F238E27FC236}">
                <a16:creationId xmlns:a16="http://schemas.microsoft.com/office/drawing/2014/main" id="{783FE90B-8144-4EE7-83DD-1BF890852B5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E07709-F5D6-04F5-13BA-175ED852645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312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>
              <a:defRPr sz="1600"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B1415D85-ECEE-44AA-B226-4998B44E25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1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1"/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424654-2778-EA1B-0192-6D8875E1171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118AD26C-52C9-4C02-983C-1ED47C3EED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1D192FC4-FD48-4D17-AF60-7541FACA3F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0DFB2603-4141-4F7E-B0B2-4354CE1418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82923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91817E-6423-D72F-7A29-7C696C78E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4E12AEFA-037C-13A6-D9D9-349DFD23D7F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C38032FD-A923-4443-A1D8-3B56F7A36EC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03295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17100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1C20BEF9-F6A4-4E18-813E-7C7A4A89EFB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1400423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  <a:alpha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DC1FF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3" name="Textfeld 2">
            <a:extLst>
              <a:ext uri="{FF2B5EF4-FFF2-40B4-BE49-F238E27FC236}">
                <a16:creationId xmlns:a16="http://schemas.microsoft.com/office/drawing/2014/main" id="{DFA15C25-778F-45D2-A70E-06F46D1BF03A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9CAA27B-59B5-D915-6398-75A94668C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9227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D5A43E47-9416-3DCC-8243-87AE52AE206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E454AC21-5CA9-4DCD-9E64-33EE941B0352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AA41E4-A17D-03A8-9521-4B67C9D842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EB41DB-513E-D1FC-EB6E-F88FF4034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7" name="Titel 1">
            <a:extLst>
              <a:ext uri="{FF2B5EF4-FFF2-40B4-BE49-F238E27FC236}">
                <a16:creationId xmlns:a16="http://schemas.microsoft.com/office/drawing/2014/main" id="{5420EE52-882B-A637-C5E2-47028BC68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1313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E4EDC0B4-4839-D67D-DEEC-401133DF66D9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560AFC3-57D0-F888-0409-6E4AE04E7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5" name="Tabellenplatzhalter 7">
            <a:extLst>
              <a:ext uri="{FF2B5EF4-FFF2-40B4-BE49-F238E27FC236}">
                <a16:creationId xmlns:a16="http://schemas.microsoft.com/office/drawing/2014/main" id="{0D05A9C7-78D0-EE06-3C91-0B44CAD5C348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17354478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3C5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FE1ED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B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414B1055-33F2-706A-B987-AD219F01C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3" name="Foliennummernplatzhalter 6">
            <a:extLst>
              <a:ext uri="{FF2B5EF4-FFF2-40B4-BE49-F238E27FC236}">
                <a16:creationId xmlns:a16="http://schemas.microsoft.com/office/drawing/2014/main" id="{64DEE5FA-1A0F-5F55-0896-0246BC7D6F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4" name="Fußzeilenplatzhalter 3">
            <a:extLst>
              <a:ext uri="{FF2B5EF4-FFF2-40B4-BE49-F238E27FC236}">
                <a16:creationId xmlns:a16="http://schemas.microsoft.com/office/drawing/2014/main" id="{EC8C11A2-D458-BDE8-F2BF-ADAFB41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6806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43B56E86-EFEB-4205-AA4A-9F3E82413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5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9"/>
            <a:ext cx="9697665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lnSpc>
                <a:spcPct val="100000"/>
              </a:lnSpc>
              <a:spcBef>
                <a:spcPts val="1000"/>
              </a:spcBef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4066C5-F371-4079-BEC5-D83B78D0CFE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C05F074-4978-BB63-F797-D5FCF99615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800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709CECA-60EA-35F9-5F27-CF64A7C897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446850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AF35D6C1-0699-3B81-DD6A-0016F7A8D7E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chemeClr val="accent4">
              <a:lumMod val="50000"/>
              <a:alpha val="80000"/>
            </a:scheme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FBA6571-CE1B-47EB-8C1E-D5A1391EAE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32C7237-52B1-CB5D-D118-2836DC556E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F1FF6555-F43F-4F6F-8557-7775ED911D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14226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3007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6263446-0FBB-7B9F-7376-C85F4725E6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96307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FBB571AC-F556-C50A-DAD2-4638503AA73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43C99AA0-30B9-CB68-5447-173C21DF9A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E5E99BBD-0EE1-272A-B9CD-BB38CD6536A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160246-4126-D54D-D8F2-4EA413129C1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E4B575B-830B-4042-B5E3-854ED6742E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851263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B0949BCE-540C-4310-9432-ECBCD4F9E8D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AC8D3D5-3F24-32BA-B9E4-6239FD09AAD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247385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4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A1BCFDDC-E704-4456-842B-CA12D08661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chemeClr val="accent4">
              <a:lumMod val="50000"/>
            </a:schemeClr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B38C3D2-DF70-153A-B8DF-4CECDC072803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3D74F0FA-8F68-4378-8DBC-19E1F6A0E5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D0D31E6-199E-4219-A707-84C3133E308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3B652E60-BB22-4CDC-B46E-3983789A55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500490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E8896D9-06D8-F605-C9DB-A9519477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96FFF96C-003A-2C95-0C20-6A5ECF67AE3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82C0F5C3-8222-0817-ECCA-D675DF1CE7E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A4678D57-D387-497F-BE8F-CC4BED8016E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/>
              <a:t>Bildquelle hier angeben</a:t>
            </a:r>
          </a:p>
        </p:txBody>
      </p:sp>
    </p:spTree>
    <p:extLst>
      <p:ext uri="{BB962C8B-B14F-4D97-AF65-F5344CB8AC3E}">
        <p14:creationId xmlns:p14="http://schemas.microsoft.com/office/powerpoint/2010/main" val="743913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51EFB8F-681F-B958-6016-DE1F84F28F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95776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10" name="Tabellenplatzhalter 7">
            <a:extLst>
              <a:ext uri="{FF2B5EF4-FFF2-40B4-BE49-F238E27FC236}">
                <a16:creationId xmlns:a16="http://schemas.microsoft.com/office/drawing/2014/main" id="{0D3ABB45-EB62-4087-B3EF-39BEE25E7081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562190330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3D336417-AA09-48C9-BDF2-558668A9C82D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07347F-35E4-52BE-8323-09918044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70633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6133B2B-12C4-FE1C-E575-FCC33EDD08E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1" name="Tabellenplatzhalter 4">
            <a:extLst>
              <a:ext uri="{FF2B5EF4-FFF2-40B4-BE49-F238E27FC236}">
                <a16:creationId xmlns:a16="http://schemas.microsoft.com/office/drawing/2014/main" id="{57BDB932-A261-4963-8CCA-D819AAB058C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8C0A269-0A22-1F24-8A6F-92CF83B25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1D6C117F-FFC7-BDD4-24D7-796BC82D0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7A68C062-180C-99B8-FA50-EA5C79290C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04735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0D7E6995-96CC-3982-D5B2-C86FEE3250A0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D4835C53-91E7-6F9B-B923-BC1D5AC13F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3">
            <a:extLst>
              <a:ext uri="{FF2B5EF4-FFF2-40B4-BE49-F238E27FC236}">
                <a16:creationId xmlns:a16="http://schemas.microsoft.com/office/drawing/2014/main" id="{B2529C76-0D8A-EF87-45E6-0ADDE5F1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71F05D1-9FC5-816E-FCE9-742956FC2E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2" name="Titel 4">
            <a:extLst>
              <a:ext uri="{FF2B5EF4-FFF2-40B4-BE49-F238E27FC236}">
                <a16:creationId xmlns:a16="http://schemas.microsoft.com/office/drawing/2014/main" id="{E6EC0CBA-DCD5-B2B0-E997-0F914B7AC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E4A06E74-DBC5-BFB5-A583-5D6E319BBD4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95061288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5CA69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EE8C2">
                        <a:alpha val="2470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F9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CF2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62679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itel/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3A1DD6DF-B176-485D-B01F-0D026F51E49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5CF0C306-39D7-4EAE-89DF-69763743BA67}"/>
              </a:ext>
            </a:extLst>
          </p:cNvPr>
          <p:cNvSpPr/>
          <p:nvPr userDrawn="1"/>
        </p:nvSpPr>
        <p:spPr>
          <a:xfrm>
            <a:off x="0" y="0"/>
            <a:ext cx="695326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E5C513F-BDE5-4EEA-A208-17CFB8B9C3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5326" y="3803208"/>
            <a:ext cx="9697665" cy="1141439"/>
          </a:xfrm>
          <a:solidFill>
            <a:srgbClr val="BE9600">
              <a:alpha val="80000"/>
            </a:srgbClr>
          </a:solidFill>
        </p:spPr>
        <p:txBody>
          <a:bodyPr lIns="288000" tIns="144000" rIns="432000" bIns="144000" anchor="ctr">
            <a:normAutofit/>
          </a:bodyPr>
          <a:lstStyle>
            <a:lvl1pPr marL="717550" indent="0" algn="l">
              <a:buNone/>
              <a:defRPr sz="16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subtitle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52A8061A-9228-4DB0-8D9D-1B65E6A7DD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40000" y="333374"/>
            <a:ext cx="9541821" cy="3205985"/>
          </a:xfrm>
        </p:spPr>
        <p:txBody>
          <a:bodyPr lIns="216000" tIns="0" rIns="0" bIns="108000" anchor="b">
            <a:noAutofit/>
          </a:bodyPr>
          <a:lstStyle>
            <a:lvl1pPr>
              <a:defRPr sz="4800" b="1" cap="all" baseline="0"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Add title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379A18D-BDEC-4A1A-B4E8-0BBF0FB0A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991" y="5268397"/>
            <a:ext cx="1532709" cy="1265853"/>
          </a:xfrm>
          <a:prstGeom prst="rect">
            <a:avLst/>
          </a:prstGeom>
        </p:spPr>
      </p:pic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338560D-8EC4-B53A-7006-5B5A972DC7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425600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602EDA2-8AA2-0466-B051-008CD77640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33665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Kapitel/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2">
            <a:extLst>
              <a:ext uri="{FF2B5EF4-FFF2-40B4-BE49-F238E27FC236}">
                <a16:creationId xmlns:a16="http://schemas.microsoft.com/office/drawing/2014/main" id="{A29A4717-2733-B1CC-C548-EE7EB957DA2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338" y="0"/>
            <a:ext cx="11904662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CCAB873-861B-47E3-BAE9-07181DA521FB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E04937E-4444-4817-AF16-D7E7EA0FE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A0C9CC46-BAE5-4171-9813-A78515AF72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5101588"/>
            <a:ext cx="10693822" cy="1141438"/>
          </a:xfrm>
          <a:solidFill>
            <a:srgbClr val="BE9600">
              <a:alpha val="80000"/>
            </a:srgbClr>
          </a:solidFill>
        </p:spPr>
        <p:txBody>
          <a:bodyPr lIns="396000" tIns="0" rIns="72000" bIns="0" anchor="ctr">
            <a:normAutofit/>
          </a:bodyPr>
          <a:lstStyle>
            <a:lvl1pPr>
              <a:defRPr sz="4800" cap="all" baseline="0">
                <a:solidFill>
                  <a:schemeClr val="bg1"/>
                </a:solidFill>
              </a:defRPr>
            </a:lvl1pPr>
          </a:lstStyle>
          <a:p>
            <a:r>
              <a:rPr lang="de-DE" dirty="0" err="1"/>
              <a:t>TITLe</a:t>
            </a:r>
            <a:endParaRPr lang="de-DE" dirty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24BD797-BDE4-4F8B-BD63-88445F3046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8C9E1831-352F-2D39-ACE5-21BCE2855BB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5320569E-7EBB-42F9-B989-19AC2BA590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 rot="5400000">
            <a:off x="9600966" y="3917193"/>
            <a:ext cx="4388725" cy="262943"/>
          </a:xfrm>
        </p:spPr>
        <p:txBody>
          <a:bodyPr lIns="0" tIns="54000" rIns="0" bIns="54000">
            <a:spAutoFit/>
          </a:bodyPr>
          <a:lstStyle>
            <a:lvl1pPr marL="0" indent="0" algn="r">
              <a:buNone/>
              <a:defRPr sz="10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252866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 Inhalt/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233920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2095625"/>
            <a:ext cx="10801349" cy="4428999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107BD53-6A79-8877-2BE1-B0C49A39BD9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62905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4" y="2095625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0" name="Textplatzhalter 23">
            <a:extLst>
              <a:ext uri="{FF2B5EF4-FFF2-40B4-BE49-F238E27FC236}">
                <a16:creationId xmlns:a16="http://schemas.microsoft.com/office/drawing/2014/main" id="{19A4112A-F23E-4E93-B0DE-E0650E1BFC4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68187CB7-2C33-1C03-52A8-8996E6753E49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95325" y="4673892"/>
            <a:ext cx="5400675" cy="1850733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12" name="Textplatzhalter 23">
            <a:extLst>
              <a:ext uri="{FF2B5EF4-FFF2-40B4-BE49-F238E27FC236}">
                <a16:creationId xmlns:a16="http://schemas.microsoft.com/office/drawing/2014/main" id="{756228A2-CAF9-B1A1-1C97-DA91AB6BED6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066055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CA1CEBC5-E31D-F865-99F9-F5B2C3A4B1C3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487789"/>
            <a:ext cx="5156200" cy="4773894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>
              <a:defRPr>
                <a:solidFill>
                  <a:srgbClr val="D9117E"/>
                </a:solidFill>
              </a:defRPr>
            </a:lvl1pPr>
          </a:lstStyle>
          <a:p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B1A145E-844F-C173-0E1A-4D5807A9AB03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20E4FEBA-B0DE-4B79-99F8-C969B4E3A9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0475" y="6261682"/>
            <a:ext cx="5156200" cy="262943"/>
          </a:xfrm>
        </p:spPr>
        <p:txBody>
          <a:bodyPr lIns="0" tIns="54000" rIns="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335086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E243AE-4939-4DED-AAB6-88EFB5F7C11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5325" y="1628775"/>
            <a:ext cx="10801349" cy="3379007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Textplatzhalter 20">
            <a:extLst>
              <a:ext uri="{FF2B5EF4-FFF2-40B4-BE49-F238E27FC236}">
                <a16:creationId xmlns:a16="http://schemas.microsoft.com/office/drawing/2014/main" id="{59E7F815-FED3-4D8F-9D9B-35CCAF3B26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2093030-8FCB-CEE5-FAC4-DF786DEBF90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730136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hteck 24">
            <a:extLst>
              <a:ext uri="{FF2B5EF4-FFF2-40B4-BE49-F238E27FC236}">
                <a16:creationId xmlns:a16="http://schemas.microsoft.com/office/drawing/2014/main" id="{1B6BF6A4-FC91-4167-8F07-41431B226865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C7D4156-B9EE-48B3-B002-FF1BD1B4E9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5" y="333375"/>
            <a:ext cx="10054800" cy="986400"/>
          </a:xfrm>
        </p:spPr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605818-BCB5-4851-918D-4380EE7BB99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9532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AA6193-522B-4DE7-B07C-2474178A85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235C822F-CC3C-4AC6-8713-E8BC4920D33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8014636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A8A8ACBD-7378-4E9B-B8F5-8AA7E85F464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54981" y="2095626"/>
            <a:ext cx="3482038" cy="823912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13B05B4-8F80-42F2-99E5-82EFE1078CF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5326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7" name="Bildplatzhalter 15">
            <a:extLst>
              <a:ext uri="{FF2B5EF4-FFF2-40B4-BE49-F238E27FC236}">
                <a16:creationId xmlns:a16="http://schemas.microsoft.com/office/drawing/2014/main" id="{0DDDB17B-0986-46FF-939D-242CCFD35E6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54981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8" name="Bildplatzhalter 15">
            <a:extLst>
              <a:ext uri="{FF2B5EF4-FFF2-40B4-BE49-F238E27FC236}">
                <a16:creationId xmlns:a16="http://schemas.microsoft.com/office/drawing/2014/main" id="{D46DB007-86EC-4631-9973-7E69665C066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14637" y="3041584"/>
            <a:ext cx="3482038" cy="1915428"/>
          </a:xfrm>
          <a:solidFill>
            <a:schemeClr val="accent6">
              <a:lumMod val="40000"/>
              <a:lumOff val="60000"/>
            </a:schemeClr>
          </a:solidFill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600"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C2C85D4D-1A11-4D5D-986E-8754B4B26D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5325" y="1487788"/>
            <a:ext cx="3482038" cy="439824"/>
          </a:xfrm>
          <a:solidFill>
            <a:schemeClr val="accent2">
              <a:lumMod val="75000"/>
            </a:schemeClr>
          </a:solidFill>
        </p:spPr>
        <p:txBody>
          <a:bodyPr wrap="square" anchor="ctr">
            <a:normAutofit/>
          </a:bodyPr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4570C8F3-09F4-4F6C-BDF3-B1F82DC969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5" name="Textplatzhalter 20">
            <a:extLst>
              <a:ext uri="{FF2B5EF4-FFF2-40B4-BE49-F238E27FC236}">
                <a16:creationId xmlns:a16="http://schemas.microsoft.com/office/drawing/2014/main" id="{9D0FAF78-2A5F-4E8E-B1EE-D7C4255495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7999" y="5245768"/>
            <a:ext cx="11208676" cy="1278857"/>
          </a:xfrm>
          <a:solidFill>
            <a:srgbClr val="BE9600"/>
          </a:solidFill>
        </p:spPr>
        <p:txBody>
          <a:bodyPr tIns="144000"/>
          <a:lstStyle>
            <a:lvl1pPr marL="539750" indent="-231775" defTabSz="539750"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bg1"/>
                </a:solidFill>
              </a:defRPr>
            </a:lvl1pPr>
            <a:lvl2pPr marL="539750" indent="-231775" defTabSz="539750"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2pPr>
            <a:lvl3pPr marL="539750" indent="-231775" defTabSz="539750"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marL="539750" indent="-231775" defTabSz="539750">
              <a:defRPr/>
            </a:lvl4pPr>
            <a:lvl5pPr marL="539750" indent="-231775" defTabSz="539750">
              <a:defRPr/>
            </a:lvl5pPr>
          </a:lstStyle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C09EDA4-178A-19BE-891D-96E3D2B19D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9" name="Textplatzhalter 7">
            <a:extLst>
              <a:ext uri="{FF2B5EF4-FFF2-40B4-BE49-F238E27FC236}">
                <a16:creationId xmlns:a16="http://schemas.microsoft.com/office/drawing/2014/main" id="{C4CA3CBF-84EB-43B9-A448-AE66CF1B19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325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0" name="Textplatzhalter 7">
            <a:extLst>
              <a:ext uri="{FF2B5EF4-FFF2-40B4-BE49-F238E27FC236}">
                <a16:creationId xmlns:a16="http://schemas.microsoft.com/office/drawing/2014/main" id="{8648652F-2A78-4696-BEDF-2827E6783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4979" y="4691485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4D0E809D-C311-4031-A613-368FF399A7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14637" y="4687047"/>
            <a:ext cx="3482037" cy="262943"/>
          </a:xfrm>
        </p:spPr>
        <p:txBody>
          <a:bodyPr lIns="54000" tIns="54000" rIns="54000" bIns="54000">
            <a:spAutoFit/>
          </a:bodyPr>
          <a:lstStyle>
            <a:lvl1pPr marL="0" indent="0" algn="l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484789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/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0DB6F92-3F9C-4AAE-8E91-FA9B6A8B9CD6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8D6C63F-3884-45FC-8DE4-73068BFE19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3042934-6DB9-4975-858F-6A2DF94E1A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0B65C82-54AD-42F3-A4B0-D8BBEFD38A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4EBC151-FC60-E584-26BE-7134EAB82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705F4847-2276-AAFB-108E-DBA5E7360C9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94800" y="1628775"/>
            <a:ext cx="5400000" cy="4896000"/>
          </a:xfrm>
        </p:spPr>
        <p:txBody>
          <a:bodyPr/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Bildplatzhalter 4">
            <a:extLst>
              <a:ext uri="{FF2B5EF4-FFF2-40B4-BE49-F238E27FC236}">
                <a16:creationId xmlns:a16="http://schemas.microsoft.com/office/drawing/2014/main" id="{7BE329DB-A001-C66F-6040-0E345285523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340475" y="1628625"/>
            <a:ext cx="5156200" cy="4896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935316FE-8476-4572-87B2-B715CCF5833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180145" y="394515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16546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C9C186D-B875-45B9-9C0A-1830A52B4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60E2FA4-B336-450E-D6C0-FA99C883B41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735415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B81FCDC8-3081-4340-AF3B-5B61880598E5}"/>
              </a:ext>
            </a:extLst>
          </p:cNvPr>
          <p:cNvSpPr/>
          <p:nvPr userDrawn="1"/>
        </p:nvSpPr>
        <p:spPr>
          <a:xfrm>
            <a:off x="-1" y="-2406"/>
            <a:ext cx="12192001" cy="686040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B6948ECD-4444-4227-81E3-3211A0E71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2"/>
          </a:xfrm>
          <a:prstGeom prst="rect">
            <a:avLst/>
          </a:prstGeom>
        </p:spPr>
      </p:pic>
      <p:graphicFrame>
        <p:nvGraphicFramePr>
          <p:cNvPr id="7" name="Tabellenplatzhalter 7">
            <a:extLst>
              <a:ext uri="{FF2B5EF4-FFF2-40B4-BE49-F238E27FC236}">
                <a16:creationId xmlns:a16="http://schemas.microsoft.com/office/drawing/2014/main" id="{215C28A5-80CD-4F42-9C77-C690E11449E6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926700702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alpha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  <a:alpha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  <p:sp>
        <p:nvSpPr>
          <p:cNvPr id="10" name="Textfeld 9">
            <a:extLst>
              <a:ext uri="{FF2B5EF4-FFF2-40B4-BE49-F238E27FC236}">
                <a16:creationId xmlns:a16="http://schemas.microsoft.com/office/drawing/2014/main" id="{598141AE-B519-4BF8-86A2-54973B0ADDE5}"/>
              </a:ext>
            </a:extLst>
          </p:cNvPr>
          <p:cNvSpPr txBox="1"/>
          <p:nvPr userDrawn="1"/>
        </p:nvSpPr>
        <p:spPr>
          <a:xfrm>
            <a:off x="695325" y="333375"/>
            <a:ext cx="10056092" cy="985286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de-DE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Sample </a:t>
            </a:r>
            <a:r>
              <a:rPr lang="de-DE" sz="28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endParaRPr lang="de-DE" sz="2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75B4983-3911-6B34-D420-98DD812B0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41664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Tabelle/Tab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14E77E2-5257-225C-6093-789249091B84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57C04B8-FAE9-4576-9D50-12084ACA00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A8D24D7-34CD-4ED1-8141-89BC9C1FC26A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695325" y="1628776"/>
            <a:ext cx="10801350" cy="489585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Table</a:t>
            </a:r>
          </a:p>
        </p:txBody>
      </p:sp>
      <p:sp>
        <p:nvSpPr>
          <p:cNvPr id="7" name="Fußzeilenplatzhalter 3">
            <a:extLst>
              <a:ext uri="{FF2B5EF4-FFF2-40B4-BE49-F238E27FC236}">
                <a16:creationId xmlns:a16="http://schemas.microsoft.com/office/drawing/2014/main" id="{1913AF20-2093-81B8-D3CF-3988C0D0E2D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601CA69-20CF-6A99-B9FF-A1A445743A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5326" y="333375"/>
            <a:ext cx="10056093" cy="985286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69AA2D8C-E67C-1DBB-33C4-8FC8AE2C9F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74129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Mustertabelle/Table Sampl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60B2BD55-0944-2EB8-30AE-4EC0EBD1C778}"/>
              </a:ext>
            </a:extLst>
          </p:cNvPr>
          <p:cNvSpPr/>
          <p:nvPr userDrawn="1"/>
        </p:nvSpPr>
        <p:spPr>
          <a:xfrm>
            <a:off x="-1" y="0"/>
            <a:ext cx="288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de-DE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liennummernplatzhalter 6">
            <a:extLst>
              <a:ext uri="{FF2B5EF4-FFF2-40B4-BE49-F238E27FC236}">
                <a16:creationId xmlns:a16="http://schemas.microsoft.com/office/drawing/2014/main" id="{8E332830-1B76-0834-BFD4-B0A738EACD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0" y="5342399"/>
            <a:ext cx="288000" cy="1440000"/>
          </a:xfrm>
        </p:spPr>
        <p:txBody>
          <a:bodyPr/>
          <a:lstStyle/>
          <a:p>
            <a:fld id="{30ADABB7-F9A6-4A4D-9415-296AC5E687F8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1392DD0-9A3C-88DC-7FA4-612131847E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1821" y="301132"/>
            <a:ext cx="943879" cy="779543"/>
          </a:xfrm>
          <a:prstGeom prst="rect">
            <a:avLst/>
          </a:prstGeom>
        </p:spPr>
      </p:pic>
      <p:sp>
        <p:nvSpPr>
          <p:cNvPr id="11" name="Fußzeilenplatzhalter 3">
            <a:extLst>
              <a:ext uri="{FF2B5EF4-FFF2-40B4-BE49-F238E27FC236}">
                <a16:creationId xmlns:a16="http://schemas.microsoft.com/office/drawing/2014/main" id="{8A8560D2-D042-38FC-1DF9-D8044861589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5325" y="6544945"/>
            <a:ext cx="4114800" cy="257774"/>
          </a:xfrm>
        </p:spPr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2" name="Titel 4">
            <a:extLst>
              <a:ext uri="{FF2B5EF4-FFF2-40B4-BE49-F238E27FC236}">
                <a16:creationId xmlns:a16="http://schemas.microsoft.com/office/drawing/2014/main" id="{14023C8A-8B07-0D4C-F346-2C1B9789C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graphicFrame>
        <p:nvGraphicFramePr>
          <p:cNvPr id="13" name="Tabellenplatzhalter 7">
            <a:extLst>
              <a:ext uri="{FF2B5EF4-FFF2-40B4-BE49-F238E27FC236}">
                <a16:creationId xmlns:a16="http://schemas.microsoft.com/office/drawing/2014/main" id="{C345DDFB-6457-0140-C751-BBDEB3109C3B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4088028885"/>
              </p:ext>
            </p:extLst>
          </p:nvPr>
        </p:nvGraphicFramePr>
        <p:xfrm>
          <a:off x="695325" y="1628775"/>
          <a:ext cx="10801350" cy="29419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160270">
                  <a:extLst>
                    <a:ext uri="{9D8B030D-6E8A-4147-A177-3AD203B41FA5}">
                      <a16:colId xmlns:a16="http://schemas.microsoft.com/office/drawing/2014/main" val="3414773314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43605508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3205677931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51638767"/>
                    </a:ext>
                  </a:extLst>
                </a:gridCol>
                <a:gridCol w="2160270">
                  <a:extLst>
                    <a:ext uri="{9D8B030D-6E8A-4147-A177-3AD203B41FA5}">
                      <a16:colId xmlns:a16="http://schemas.microsoft.com/office/drawing/2014/main" val="411794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solidFill>
                            <a:srgbClr val="EFCA0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 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016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5.1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DC50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1409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5.2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4CE">
                        <a:alpha val="25098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801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5.3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9492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5.4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FC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470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1.5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2.5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3.5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4.5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Content 5.5</a:t>
                      </a:r>
                    </a:p>
                  </a:txBody>
                  <a:tcPr marL="108000" marR="108000" marT="108000" marB="10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F6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9310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7259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/Fullscreen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C2226DF2-778A-4612-9F78-6765D18406C1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-1" y="0"/>
            <a:ext cx="12192001" cy="6858000"/>
          </a:xfrm>
          <a:solidFill>
            <a:schemeClr val="accent6">
              <a:lumMod val="40000"/>
              <a:lumOff val="60000"/>
            </a:schemeClr>
          </a:solidFill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>
                <a:solidFill>
                  <a:srgbClr val="D9117E"/>
                </a:solidFill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de-DE" dirty="0" err="1"/>
              <a:t>Replace</a:t>
            </a:r>
            <a:r>
              <a:rPr lang="de-DE" dirty="0"/>
              <a:t> </a:t>
            </a:r>
            <a:r>
              <a:rPr lang="de-DE" dirty="0" err="1"/>
              <a:t>placeholder</a:t>
            </a:r>
            <a:endParaRPr lang="de-DE" dirty="0"/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87F97911-DA70-4C70-822A-1814FBD79C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83600" y="302400"/>
            <a:ext cx="943200" cy="781200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37EBD16-097C-4A05-9018-8E3005584E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7813AC-780E-0FEE-8DD2-961C8464CAC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8395D497-4BD0-4044-AB65-1F72BFD0F1B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 rot="5400000">
            <a:off x="9347327" y="3965472"/>
            <a:ext cx="4896003" cy="262943"/>
          </a:xfrm>
        </p:spPr>
        <p:txBody>
          <a:bodyPr lIns="54000" tIns="54000" rIns="54000" bIns="54000">
            <a:spAutoFit/>
          </a:bodyPr>
          <a:lstStyle>
            <a:lvl1pPr marL="0" indent="0" algn="r">
              <a:buNone/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de-DE" dirty="0" err="1"/>
              <a:t>Specify</a:t>
            </a:r>
            <a:r>
              <a:rPr lang="de-DE" dirty="0"/>
              <a:t> </a:t>
            </a:r>
            <a:r>
              <a:rPr lang="de-DE" dirty="0" err="1"/>
              <a:t>image</a:t>
            </a:r>
            <a:r>
              <a:rPr lang="de-DE" dirty="0"/>
              <a:t> source </a:t>
            </a:r>
            <a:r>
              <a:rPr lang="de-DE" dirty="0" err="1"/>
              <a:t>here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2057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1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CA21C0A-576F-4448-A405-945F7FEA5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333375"/>
            <a:ext cx="10056093" cy="98528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title </a:t>
            </a:r>
            <a:r>
              <a:rPr lang="de-DE" dirty="0" err="1"/>
              <a:t>format</a:t>
            </a:r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DA8A30-87AB-49C6-AE8C-F7B24CECFA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5" y="1628775"/>
            <a:ext cx="10801349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Edit </a:t>
            </a:r>
            <a:r>
              <a:rPr lang="de-DE" dirty="0" err="1"/>
              <a:t>master</a:t>
            </a:r>
            <a:r>
              <a:rPr lang="de-DE" dirty="0"/>
              <a:t> </a:t>
            </a:r>
            <a:r>
              <a:rPr lang="de-DE" dirty="0" err="1"/>
              <a:t>text</a:t>
            </a:r>
            <a:r>
              <a:rPr lang="de-DE" dirty="0"/>
              <a:t> </a:t>
            </a:r>
            <a:r>
              <a:rPr lang="de-DE" dirty="0" err="1"/>
              <a:t>format</a:t>
            </a:r>
            <a:endParaRPr lang="de-DE" dirty="0"/>
          </a:p>
          <a:p>
            <a:pPr lvl="1"/>
            <a:r>
              <a:rPr lang="de-DE" dirty="0"/>
              <a:t>Second </a:t>
            </a:r>
            <a:r>
              <a:rPr lang="de-DE" dirty="0" err="1"/>
              <a:t>level</a:t>
            </a:r>
            <a:endParaRPr lang="de-DE" dirty="0"/>
          </a:p>
          <a:p>
            <a:pPr lvl="2"/>
            <a:r>
              <a:rPr lang="de-DE" dirty="0"/>
              <a:t>Third </a:t>
            </a:r>
            <a:r>
              <a:rPr lang="de-DE" dirty="0" err="1"/>
              <a:t>level</a:t>
            </a:r>
            <a:endParaRPr lang="de-DE" dirty="0"/>
          </a:p>
          <a:p>
            <a:pPr lvl="3"/>
            <a:r>
              <a:rPr lang="de-DE" dirty="0" err="1"/>
              <a:t>Fourth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  <a:p>
            <a:pPr lvl="4"/>
            <a:r>
              <a:rPr lang="de-DE" dirty="0" err="1"/>
              <a:t>Fifth</a:t>
            </a:r>
            <a:r>
              <a:rPr lang="de-DE" dirty="0"/>
              <a:t> </a:t>
            </a:r>
            <a:r>
              <a:rPr lang="de-DE" dirty="0" err="1"/>
              <a:t>level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A096809-C3E5-439C-AF0A-E75CD81D72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5342399"/>
            <a:ext cx="288000" cy="1440000"/>
          </a:xfrm>
          <a:prstGeom prst="rect">
            <a:avLst/>
          </a:prstGeom>
        </p:spPr>
        <p:txBody>
          <a:bodyPr vert="horz" wrap="none" lIns="36000" tIns="90000" rIns="36000" bIns="90000" rtlCol="0" anchor="b">
            <a:normAutofit/>
          </a:bodyPr>
          <a:lstStyle>
            <a:lvl1pPr algn="ct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0ADABB7-F9A6-4A4D-9415-296AC5E687F8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88822AB-459F-739F-855B-F69C7435C1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5325" y="6544945"/>
            <a:ext cx="4114800" cy="2577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pic>
        <p:nvPicPr>
          <p:cNvPr id="7" name="Grafik 6" descr="Ein Bild, das Farbigkeit, Quadrat, Rechteck, Screenshot enthält.&#10;&#10;Automatisch generierte Beschreibung">
            <a:extLst>
              <a:ext uri="{FF2B5EF4-FFF2-40B4-BE49-F238E27FC236}">
                <a16:creationId xmlns:a16="http://schemas.microsoft.com/office/drawing/2014/main" id="{B6B2436D-6F14-4C91-9F38-9FC66CBDB854}"/>
              </a:ext>
            </a:extLst>
          </p:cNvPr>
          <p:cNvPicPr>
            <a:picLocks noChangeAspect="1"/>
          </p:cNvPicPr>
          <p:nvPr userDrawn="1"/>
        </p:nvPicPr>
        <p:blipFill>
          <a:blip r:embed="rId39"/>
          <a:stretch>
            <a:fillRect/>
          </a:stretch>
        </p:blipFill>
        <p:spPr>
          <a:xfrm>
            <a:off x="-4412343" y="1874995"/>
            <a:ext cx="4101329" cy="3249687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EAEA2B8E-DD3B-4F4F-AFD8-DBE8E57FC574}"/>
              </a:ext>
            </a:extLst>
          </p:cNvPr>
          <p:cNvSpPr txBox="1"/>
          <p:nvPr userDrawn="1"/>
        </p:nvSpPr>
        <p:spPr>
          <a:xfrm>
            <a:off x="-4412343" y="1309144"/>
            <a:ext cx="4101329" cy="430887"/>
          </a:xfrm>
          <a:prstGeom prst="rect">
            <a:avLst/>
          </a:prstGeom>
          <a:solidFill>
            <a:srgbClr val="FF3399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de-DE" sz="1400" b="1" i="0" baseline="0" dirty="0">
                <a:solidFill>
                  <a:schemeClr val="bg1"/>
                </a:solidFill>
              </a:rPr>
              <a:t>Select DLR-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colours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below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with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</a:p>
          <a:p>
            <a:pPr algn="ctr"/>
            <a:r>
              <a:rPr lang="de-DE" sz="1400" b="1" i="0" baseline="0" dirty="0" err="1">
                <a:solidFill>
                  <a:schemeClr val="bg1"/>
                </a:solidFill>
              </a:rPr>
              <a:t>the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eyepopper</a:t>
            </a:r>
            <a:r>
              <a:rPr lang="de-DE" sz="1400" b="1" i="0" baseline="0" dirty="0">
                <a:solidFill>
                  <a:schemeClr val="bg1"/>
                </a:solidFill>
              </a:rPr>
              <a:t>/</a:t>
            </a:r>
            <a:r>
              <a:rPr lang="de-DE" sz="1400" b="1" i="0" baseline="0" dirty="0" err="1">
                <a:solidFill>
                  <a:schemeClr val="bg1"/>
                </a:solidFill>
              </a:rPr>
              <a:t>color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picker</a:t>
            </a:r>
            <a:r>
              <a:rPr lang="de-DE" sz="1400" b="1" i="0" baseline="0" dirty="0">
                <a:solidFill>
                  <a:schemeClr val="bg1"/>
                </a:solidFill>
              </a:rPr>
              <a:t> </a:t>
            </a:r>
            <a:r>
              <a:rPr lang="de-DE" sz="1400" b="1" i="0" baseline="0" dirty="0" err="1">
                <a:solidFill>
                  <a:schemeClr val="bg1"/>
                </a:solidFill>
              </a:rPr>
              <a:t>tool</a:t>
            </a:r>
            <a:endParaRPr lang="de-CR" sz="1400" b="1" i="0" baseline="0" dirty="0">
              <a:solidFill>
                <a:schemeClr val="bg1"/>
              </a:solidFill>
            </a:endParaRPr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CEF3CE64-FA21-4F63-B986-1358806923EF}"/>
              </a:ext>
            </a:extLst>
          </p:cNvPr>
          <p:cNvGrpSpPr/>
          <p:nvPr userDrawn="1"/>
        </p:nvGrpSpPr>
        <p:grpSpPr>
          <a:xfrm>
            <a:off x="12572057" y="4849"/>
            <a:ext cx="9360000" cy="5796000"/>
            <a:chOff x="12572057" y="4849"/>
            <a:chExt cx="9360000" cy="5796000"/>
          </a:xfrm>
        </p:grpSpPr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1ABC1C5C-A5DA-4EB3-B01E-8D75036C5553}"/>
                </a:ext>
              </a:extLst>
            </p:cNvPr>
            <p:cNvSpPr/>
            <p:nvPr/>
          </p:nvSpPr>
          <p:spPr>
            <a:xfrm>
              <a:off x="12572057" y="4849"/>
              <a:ext cx="9360000" cy="5796000"/>
            </a:xfrm>
            <a:prstGeom prst="rect">
              <a:avLst/>
            </a:prstGeom>
            <a:solidFill>
              <a:srgbClr val="FF339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CR"/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91925FDB-4FD6-4DDA-A197-927C63A89427}"/>
                </a:ext>
              </a:extLst>
            </p:cNvPr>
            <p:cNvSpPr txBox="1"/>
            <p:nvPr/>
          </p:nvSpPr>
          <p:spPr>
            <a:xfrm>
              <a:off x="12724457" y="157246"/>
              <a:ext cx="61098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Editing the header and footer</a:t>
              </a:r>
              <a:endParaRPr lang="de-CR" dirty="0">
                <a:solidFill>
                  <a:schemeClr val="bg1"/>
                </a:solidFill>
              </a:endParaRP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3DB58BC-7CAE-441F-B4EF-916243E1A37C}"/>
                </a:ext>
              </a:extLst>
            </p:cNvPr>
            <p:cNvSpPr txBox="1"/>
            <p:nvPr/>
          </p:nvSpPr>
          <p:spPr>
            <a:xfrm>
              <a:off x="12724457" y="792337"/>
              <a:ext cx="65465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Menu: "Insert" &gt; "Header and Footer" (see screenshot 1)</a:t>
              </a:r>
              <a:endParaRPr lang="de-DE" sz="1600" dirty="0">
                <a:solidFill>
                  <a:schemeClr val="bg1"/>
                </a:solidFill>
              </a:endParaRPr>
            </a:p>
          </p:txBody>
        </p:sp>
        <p:pic>
          <p:nvPicPr>
            <p:cNvPr id="33" name="Grafik 32">
              <a:extLst>
                <a:ext uri="{FF2B5EF4-FFF2-40B4-BE49-F238E27FC236}">
                  <a16:creationId xmlns:a16="http://schemas.microsoft.com/office/drawing/2014/main" id="{CDABBF1B-88D5-43FA-9657-57AD29E3F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2815486" y="1481782"/>
              <a:ext cx="8779602" cy="920638"/>
            </a:xfrm>
            <a:prstGeom prst="rect">
              <a:avLst/>
            </a:prstGeom>
          </p:spPr>
        </p:pic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FE2F1701-2827-40C9-AB97-84473EB4C5E8}"/>
                </a:ext>
              </a:extLst>
            </p:cNvPr>
            <p:cNvSpPr txBox="1"/>
            <p:nvPr/>
          </p:nvSpPr>
          <p:spPr>
            <a:xfrm>
              <a:off x="12724457" y="1195691"/>
              <a:ext cx="50461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1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66F1CB0C-3FC9-4850-A700-E0D2CFB1DD44}"/>
                </a:ext>
              </a:extLst>
            </p:cNvPr>
            <p:cNvSpPr txBox="1"/>
            <p:nvPr/>
          </p:nvSpPr>
          <p:spPr>
            <a:xfrm>
              <a:off x="12724457" y="2947698"/>
              <a:ext cx="4307945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Adapt the input dialog to your individual needs and confirm the input by clicking the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"Apply to all" button if the change is to be made globally for all slides. 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In case of partial change of single slides,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you have to confirm with the button "Apply". </a:t>
              </a:r>
              <a:br>
                <a:rPr lang="en-US" sz="1600" dirty="0">
                  <a:solidFill>
                    <a:schemeClr val="bg1"/>
                  </a:solidFill>
                </a:rPr>
              </a:br>
              <a:r>
                <a:rPr lang="en-US" sz="1600" dirty="0">
                  <a:solidFill>
                    <a:schemeClr val="bg1"/>
                  </a:solidFill>
                </a:rPr>
                <a:t>(see screenshot 2)</a:t>
              </a:r>
            </a:p>
          </p:txBody>
        </p:sp>
        <p:pic>
          <p:nvPicPr>
            <p:cNvPr id="36" name="Grafik 35">
              <a:extLst>
                <a:ext uri="{FF2B5EF4-FFF2-40B4-BE49-F238E27FC236}">
                  <a16:creationId xmlns:a16="http://schemas.microsoft.com/office/drawing/2014/main" id="{480B5319-4E69-430D-B813-478C6A3B34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05" t="4215" r="3045" b="3447"/>
            <a:stretch/>
          </p:blipFill>
          <p:spPr>
            <a:xfrm>
              <a:off x="17586852" y="2997154"/>
              <a:ext cx="4008235" cy="2547966"/>
            </a:xfrm>
            <a:prstGeom prst="rect">
              <a:avLst/>
            </a:prstGeom>
          </p:spPr>
        </p:pic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400701A2-BA4C-4126-8F58-5C36702060D0}"/>
                </a:ext>
              </a:extLst>
            </p:cNvPr>
            <p:cNvSpPr txBox="1"/>
            <p:nvPr/>
          </p:nvSpPr>
          <p:spPr>
            <a:xfrm>
              <a:off x="17498074" y="2750933"/>
              <a:ext cx="409701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>
                  <a:solidFill>
                    <a:schemeClr val="bg1"/>
                  </a:solidFill>
                </a:rPr>
                <a:t>Screenshot 2</a:t>
              </a:r>
            </a:p>
          </p:txBody>
        </p:sp>
        <p:sp>
          <p:nvSpPr>
            <p:cNvPr id="38" name="Ellipse 7">
              <a:extLst>
                <a:ext uri="{FF2B5EF4-FFF2-40B4-BE49-F238E27FC236}">
                  <a16:creationId xmlns:a16="http://schemas.microsoft.com/office/drawing/2014/main" id="{CB9D128F-6D13-4928-9A40-72234AD082DD}"/>
                </a:ext>
              </a:extLst>
            </p:cNvPr>
            <p:cNvSpPr/>
            <p:nvPr/>
          </p:nvSpPr>
          <p:spPr>
            <a:xfrm>
              <a:off x="17713206" y="1790425"/>
              <a:ext cx="589273" cy="561923"/>
            </a:xfrm>
            <a:prstGeom prst="ellipse">
              <a:avLst/>
            </a:prstGeom>
            <a:noFill/>
            <a:ln w="57150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72438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1" r:id="rId2"/>
    <p:sldLayoutId id="2147483650" r:id="rId3"/>
    <p:sldLayoutId id="2147483672" r:id="rId4"/>
    <p:sldLayoutId id="2147483674" r:id="rId5"/>
    <p:sldLayoutId id="2147483656" r:id="rId6"/>
    <p:sldLayoutId id="2147483653" r:id="rId7"/>
    <p:sldLayoutId id="2147483680" r:id="rId8"/>
    <p:sldLayoutId id="2147483654" r:id="rId9"/>
    <p:sldLayoutId id="2147483679" r:id="rId10"/>
    <p:sldLayoutId id="2147483686" r:id="rId11"/>
    <p:sldLayoutId id="2147483683" r:id="rId12"/>
    <p:sldLayoutId id="2147483662" r:id="rId13"/>
    <p:sldLayoutId id="2147483658" r:id="rId14"/>
    <p:sldLayoutId id="2147483663" r:id="rId15"/>
    <p:sldLayoutId id="2147483671" r:id="rId16"/>
    <p:sldLayoutId id="2147483675" r:id="rId17"/>
    <p:sldLayoutId id="2147483664" r:id="rId18"/>
    <p:sldLayoutId id="2147483665" r:id="rId19"/>
    <p:sldLayoutId id="2147483681" r:id="rId20"/>
    <p:sldLayoutId id="2147483670" r:id="rId21"/>
    <p:sldLayoutId id="2147483678" r:id="rId22"/>
    <p:sldLayoutId id="2147483687" r:id="rId23"/>
    <p:sldLayoutId id="2147483684" r:id="rId24"/>
    <p:sldLayoutId id="2147483661" r:id="rId25"/>
    <p:sldLayoutId id="2147483659" r:id="rId26"/>
    <p:sldLayoutId id="2147483667" r:id="rId27"/>
    <p:sldLayoutId id="2147483673" r:id="rId28"/>
    <p:sldLayoutId id="2147483676" r:id="rId29"/>
    <p:sldLayoutId id="2147483668" r:id="rId30"/>
    <p:sldLayoutId id="2147483669" r:id="rId31"/>
    <p:sldLayoutId id="2147483682" r:id="rId32"/>
    <p:sldLayoutId id="2147483666" r:id="rId33"/>
    <p:sldLayoutId id="2147483677" r:id="rId34"/>
    <p:sldLayoutId id="2147483688" r:id="rId35"/>
    <p:sldLayoutId id="2147483685" r:id="rId36"/>
    <p:sldLayoutId id="2147483655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>
              <a:lumMod val="50000"/>
              <a:lumOff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210" userDrawn="1">
          <p15:clr>
            <a:srgbClr val="F26B43"/>
          </p15:clr>
        </p15:guide>
        <p15:guide id="3" pos="7242" userDrawn="1">
          <p15:clr>
            <a:srgbClr val="F26B43"/>
          </p15:clr>
        </p15:guide>
        <p15:guide id="4" orient="horz" pos="1026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orient="horz" pos="93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tertitel 1">
            <a:extLst>
              <a:ext uri="{FF2B5EF4-FFF2-40B4-BE49-F238E27FC236}">
                <a16:creationId xmlns:a16="http://schemas.microsoft.com/office/drawing/2014/main" id="{866522C6-15B9-4AE8-9B42-91782BB9B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Dynamic Mitigation of Multi-Core Interference in Safety-Critical Systems</a:t>
            </a:r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98C5F92-6142-46B9-BFE5-4AB8AFE10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Multi-core Interference Mitigation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0AF9B05-84A9-4D6B-9A24-29C7168333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6A0F753-30A9-47D5-BD82-BEEB10DA0AD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4495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213416-9560-81E4-1140-EAC07EB19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6CFF7E-7EA7-173F-3581-192557F9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Multi-Core Architecture &amp; Interference</a:t>
            </a:r>
          </a:p>
          <a:p>
            <a:endParaRPr lang="en-US" dirty="0"/>
          </a:p>
          <a:p>
            <a:r>
              <a:rPr lang="en-US" dirty="0"/>
              <a:t>Mitigation Strategies</a:t>
            </a:r>
          </a:p>
          <a:p>
            <a:endParaRPr lang="en-US" dirty="0"/>
          </a:p>
          <a:p>
            <a:r>
              <a:rPr lang="en-US" dirty="0"/>
              <a:t>Dynamic Mitigation using </a:t>
            </a:r>
            <a:r>
              <a:rPr lang="en-US" dirty="0" err="1"/>
              <a:t>WebAssembly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Concept Demonstrator</a:t>
            </a:r>
          </a:p>
          <a:p>
            <a:endParaRPr lang="en-US" dirty="0"/>
          </a:p>
          <a:p>
            <a:r>
              <a:rPr lang="en-US" dirty="0"/>
              <a:t>Evaluation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1F69B4-9B73-5C55-9F2F-CB3160FB75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05782F-2E91-4DEC-05FD-EBCE3792F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7271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B939C0E1-CF8B-775E-D661-8217C3A778D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13AA4BD-9158-3B6F-DD4C-6F19F966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8C697CA-F583-CE39-60D4-57F5C824D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</a:t>
            </a:r>
            <a:r>
              <a:rPr lang="en-US" dirty="0" err="1"/>
              <a:t>ArchitectureS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A77F8D8-0B61-8BE4-D736-AC714B40275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8752533-2CD2-A3D6-8CF5-18B6B6174B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5A504BB-3878-A1FF-8123-596FD24079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667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32A77D-F655-D810-6188-3095F01A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Architectures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A567B2D-D301-8F07-6705-289B8803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of the Art since early 2000 in Workstations, Servers, Embedded, …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Avionics still using Single-Core or Single-Active Core in the 2020s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Why?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677F5AA-7A0B-8D88-7E29-3E224CBB2E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8977B8B-D27C-BCD9-CE25-2E39D1D5B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2604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6D2B80-1323-64B8-2366-82473B287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Interference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B6E6294-A6FB-5CEF-7191-E3BEF4659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128321" cy="1850733"/>
          </a:xfrm>
        </p:spPr>
        <p:txBody>
          <a:bodyPr>
            <a:normAutofit/>
          </a:bodyPr>
          <a:lstStyle/>
          <a:p>
            <a:r>
              <a:rPr lang="en-US" b="1" dirty="0"/>
              <a:t>More:</a:t>
            </a:r>
            <a:r>
              <a:rPr lang="en-US" dirty="0"/>
              <a:t> Compute Power</a:t>
            </a:r>
          </a:p>
          <a:p>
            <a:r>
              <a:rPr lang="en-US" b="1" dirty="0"/>
              <a:t>Less:</a:t>
            </a:r>
            <a:r>
              <a:rPr lang="en-US" dirty="0"/>
              <a:t> Power, Size, Weight</a:t>
            </a:r>
          </a:p>
          <a:p>
            <a:r>
              <a:rPr lang="en-US" dirty="0"/>
              <a:t>Enabled by Caches, Interconnects</a:t>
            </a:r>
          </a:p>
          <a:p>
            <a:pPr marL="457200" lvl="1" indent="0">
              <a:buNone/>
            </a:pPr>
            <a:r>
              <a:rPr lang="en-US" b="1" dirty="0"/>
              <a:t>→ Shared</a:t>
            </a:r>
            <a:r>
              <a:rPr lang="en-US" dirty="0"/>
              <a:t> Resources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6BD603A-9008-8015-9B39-B3F1C96AF3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EDEA259-B2F4-B034-BC9E-C55CDB8B306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Advantage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4046405-6AD0-1CEF-06E9-16E51F2A93B1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5128321" cy="1850733"/>
          </a:xfrm>
        </p:spPr>
        <p:txBody>
          <a:bodyPr/>
          <a:lstStyle/>
          <a:p>
            <a:r>
              <a:rPr lang="en-US" b="1" dirty="0"/>
              <a:t>Shared</a:t>
            </a:r>
            <a:r>
              <a:rPr lang="en-US" dirty="0"/>
              <a:t> Resources need Arbitration / Allocation policies</a:t>
            </a:r>
          </a:p>
          <a:p>
            <a:pPr marL="0" indent="0">
              <a:buNone/>
            </a:pPr>
            <a:r>
              <a:rPr lang="en-US" dirty="0"/>
              <a:t>→ Temporal Interference between       	Cores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EFB414C-E601-A9D1-B1CA-E4D90A7EF2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Problem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F73C618-CFC8-2C71-EDF4-0F1D7A55E404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77A7AEC-A5AD-11E3-EAA0-779AB4398DC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AMD/Xilinx </a:t>
            </a:r>
            <a:r>
              <a:rPr lang="de-DE" dirty="0" err="1"/>
              <a:t>Zynq</a:t>
            </a:r>
            <a:r>
              <a:rPr lang="de-DE" dirty="0"/>
              <a:t> </a:t>
            </a:r>
            <a:r>
              <a:rPr lang="de-DE" dirty="0" err="1"/>
              <a:t>UltraScale</a:t>
            </a:r>
            <a:r>
              <a:rPr lang="de-DE" dirty="0"/>
              <a:t>+ </a:t>
            </a:r>
            <a:r>
              <a:rPr lang="de-DE" dirty="0" err="1"/>
              <a:t>MPSoC</a:t>
            </a:r>
            <a:r>
              <a:rPr lang="de-DE" dirty="0"/>
              <a:t> Embedded Design </a:t>
            </a:r>
            <a:r>
              <a:rPr lang="de-DE" dirty="0" err="1"/>
              <a:t>Methodology</a:t>
            </a:r>
            <a:r>
              <a:rPr lang="de-DE" dirty="0"/>
              <a:t> Guide (UG1228)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4CC9BEDC-844C-C867-A0FD-13B2060FA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646" y="1378710"/>
            <a:ext cx="5940109" cy="4882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4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91D849-D469-92C2-073D-ED47929F8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Multi-Core Interference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E006149-461A-A530-B709-211A1D183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167311-2D18-DC04-055B-190E99867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41C1007F-B4D8-6CF1-EAA3-954A9E509A99}"/>
              </a:ext>
            </a:extLst>
          </p:cNvPr>
          <p:cNvGrpSpPr/>
          <p:nvPr/>
        </p:nvGrpSpPr>
        <p:grpSpPr>
          <a:xfrm>
            <a:off x="2389512" y="878066"/>
            <a:ext cx="6667720" cy="5497321"/>
            <a:chOff x="2389512" y="878066"/>
            <a:chExt cx="6667720" cy="5497321"/>
          </a:xfrm>
        </p:grpSpPr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D0053C48-DD6F-AACE-1E93-51382D54C4BC}"/>
                </a:ext>
              </a:extLst>
            </p:cNvPr>
            <p:cNvGrpSpPr/>
            <p:nvPr/>
          </p:nvGrpSpPr>
          <p:grpSpPr>
            <a:xfrm>
              <a:off x="2389512" y="878066"/>
              <a:ext cx="6667720" cy="5497321"/>
              <a:chOff x="2820646" y="965714"/>
              <a:chExt cx="6550708" cy="5384904"/>
            </a:xfrm>
          </p:grpSpPr>
          <p:pic>
            <p:nvPicPr>
              <p:cNvPr id="80" name="Grafik 79">
                <a:extLst>
                  <a:ext uri="{FF2B5EF4-FFF2-40B4-BE49-F238E27FC236}">
                    <a16:creationId xmlns:a16="http://schemas.microsoft.com/office/drawing/2014/main" id="{60F40211-8DB8-0F3E-AC06-0DA726ADE9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5000" t="24033" r="74561" b="31817"/>
              <a:stretch>
                <a:fillRect/>
              </a:stretch>
            </p:blipFill>
            <p:spPr>
              <a:xfrm>
                <a:off x="3148149" y="2259874"/>
                <a:ext cx="1338942" cy="2377440"/>
              </a:xfrm>
              <a:custGeom>
                <a:avLst/>
                <a:gdLst>
                  <a:gd name="connsiteX0" fmla="*/ 0 w 1338942"/>
                  <a:gd name="connsiteY0" fmla="*/ 0 h 2377440"/>
                  <a:gd name="connsiteX1" fmla="*/ 1338942 w 1338942"/>
                  <a:gd name="connsiteY1" fmla="*/ 0 h 2377440"/>
                  <a:gd name="connsiteX2" fmla="*/ 1338942 w 1338942"/>
                  <a:gd name="connsiteY2" fmla="*/ 2377440 h 2377440"/>
                  <a:gd name="connsiteX3" fmla="*/ 0 w 1338942"/>
                  <a:gd name="connsiteY3" fmla="*/ 2377440 h 2377440"/>
                  <a:gd name="connsiteX4" fmla="*/ 0 w 1338942"/>
                  <a:gd name="connsiteY4" fmla="*/ 0 h 2377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38942" h="2377440">
                    <a:moveTo>
                      <a:pt x="0" y="0"/>
                    </a:moveTo>
                    <a:lnTo>
                      <a:pt x="1338942" y="0"/>
                    </a:lnTo>
                    <a:lnTo>
                      <a:pt x="1338942" y="2377440"/>
                    </a:lnTo>
                    <a:lnTo>
                      <a:pt x="0" y="237744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83" name="Grafik 82">
                <a:extLst>
                  <a:ext uri="{FF2B5EF4-FFF2-40B4-BE49-F238E27FC236}">
                    <a16:creationId xmlns:a16="http://schemas.microsoft.com/office/drawing/2014/main" id="{3C197013-DBF3-D995-741A-E3DE3913C3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92142" t="34222" r="1377" b="34485"/>
              <a:stretch>
                <a:fillRect/>
              </a:stretch>
            </p:blipFill>
            <p:spPr>
              <a:xfrm>
                <a:off x="8856618" y="2808515"/>
                <a:ext cx="424543" cy="1685109"/>
              </a:xfrm>
              <a:custGeom>
                <a:avLst/>
                <a:gdLst>
                  <a:gd name="connsiteX0" fmla="*/ 0 w 424543"/>
                  <a:gd name="connsiteY0" fmla="*/ 0 h 1685109"/>
                  <a:gd name="connsiteX1" fmla="*/ 424543 w 424543"/>
                  <a:gd name="connsiteY1" fmla="*/ 0 h 1685109"/>
                  <a:gd name="connsiteX2" fmla="*/ 424543 w 424543"/>
                  <a:gd name="connsiteY2" fmla="*/ 1685109 h 1685109"/>
                  <a:gd name="connsiteX3" fmla="*/ 0 w 424543"/>
                  <a:gd name="connsiteY3" fmla="*/ 1685109 h 1685109"/>
                  <a:gd name="connsiteX4" fmla="*/ 0 w 424543"/>
                  <a:gd name="connsiteY4" fmla="*/ 0 h 1685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24543" h="1685109">
                    <a:moveTo>
                      <a:pt x="0" y="0"/>
                    </a:moveTo>
                    <a:lnTo>
                      <a:pt x="424543" y="0"/>
                    </a:lnTo>
                    <a:lnTo>
                      <a:pt x="424543" y="1685109"/>
                    </a:lnTo>
                    <a:lnTo>
                      <a:pt x="0" y="1685109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87" name="Grafik 86">
                <a:extLst>
                  <a:ext uri="{FF2B5EF4-FFF2-40B4-BE49-F238E27FC236}">
                    <a16:creationId xmlns:a16="http://schemas.microsoft.com/office/drawing/2014/main" id="{E2AB46D9-6844-2B83-1FEF-DF6E01A955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44084" t="34222" r="28098" b="52436"/>
              <a:stretch>
                <a:fillRect/>
              </a:stretch>
            </p:blipFill>
            <p:spPr>
              <a:xfrm>
                <a:off x="5708469" y="2808515"/>
                <a:ext cx="1822268" cy="718456"/>
              </a:xfrm>
              <a:custGeom>
                <a:avLst/>
                <a:gdLst>
                  <a:gd name="connsiteX0" fmla="*/ 0 w 1822268"/>
                  <a:gd name="connsiteY0" fmla="*/ 0 h 718456"/>
                  <a:gd name="connsiteX1" fmla="*/ 1822268 w 1822268"/>
                  <a:gd name="connsiteY1" fmla="*/ 0 h 718456"/>
                  <a:gd name="connsiteX2" fmla="*/ 1822268 w 1822268"/>
                  <a:gd name="connsiteY2" fmla="*/ 718456 h 718456"/>
                  <a:gd name="connsiteX3" fmla="*/ 0 w 1822268"/>
                  <a:gd name="connsiteY3" fmla="*/ 718456 h 718456"/>
                  <a:gd name="connsiteX4" fmla="*/ 0 w 1822268"/>
                  <a:gd name="connsiteY4" fmla="*/ 0 h 7184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22268" h="718456">
                    <a:moveTo>
                      <a:pt x="0" y="0"/>
                    </a:moveTo>
                    <a:lnTo>
                      <a:pt x="1822268" y="0"/>
                    </a:lnTo>
                    <a:lnTo>
                      <a:pt x="1822268" y="718456"/>
                    </a:lnTo>
                    <a:lnTo>
                      <a:pt x="0" y="718456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143" name="Grafik 142">
                <a:extLst>
                  <a:ext uri="{FF2B5EF4-FFF2-40B4-BE49-F238E27FC236}">
                    <a16:creationId xmlns:a16="http://schemas.microsoft.com/office/drawing/2014/main" id="{5F1806E0-2D8D-9773-C1E2-AC6395A9D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/>
              </a:blip>
              <a:srcRect l="63826" t="1594" r="16732" b="81703"/>
              <a:stretch>
                <a:fillRect/>
              </a:stretch>
            </p:blipFill>
            <p:spPr>
              <a:xfrm>
                <a:off x="7001692" y="1051560"/>
                <a:ext cx="1273629" cy="899440"/>
              </a:xfrm>
              <a:custGeom>
                <a:avLst/>
                <a:gdLst>
                  <a:gd name="connsiteX0" fmla="*/ 0 w 1273629"/>
                  <a:gd name="connsiteY0" fmla="*/ 0 h 899440"/>
                  <a:gd name="connsiteX1" fmla="*/ 1273629 w 1273629"/>
                  <a:gd name="connsiteY1" fmla="*/ 0 h 899440"/>
                  <a:gd name="connsiteX2" fmla="*/ 1273629 w 1273629"/>
                  <a:gd name="connsiteY2" fmla="*/ 899440 h 899440"/>
                  <a:gd name="connsiteX3" fmla="*/ 0 w 1273629"/>
                  <a:gd name="connsiteY3" fmla="*/ 899440 h 899440"/>
                  <a:gd name="connsiteX4" fmla="*/ 0 w 1273629"/>
                  <a:gd name="connsiteY4" fmla="*/ 0 h 899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3629" h="899440">
                    <a:moveTo>
                      <a:pt x="0" y="0"/>
                    </a:moveTo>
                    <a:lnTo>
                      <a:pt x="1273629" y="0"/>
                    </a:lnTo>
                    <a:lnTo>
                      <a:pt x="1273629" y="899440"/>
                    </a:lnTo>
                    <a:lnTo>
                      <a:pt x="0" y="89944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</p:pic>
          <p:pic>
            <p:nvPicPr>
              <p:cNvPr id="202" name="Grafik 201">
                <a:extLst>
                  <a:ext uri="{FF2B5EF4-FFF2-40B4-BE49-F238E27FC236}">
                    <a16:creationId xmlns:a16="http://schemas.microsoft.com/office/drawing/2014/main" id="{C96A2B6C-FB0F-0A86-7ED1-19B0613830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alphaModFix amt="50000"/>
              </a:blip>
              <a:srcRect/>
              <a:stretch>
                <a:fillRect/>
              </a:stretch>
            </p:blipFill>
            <p:spPr>
              <a:xfrm>
                <a:off x="2820646" y="965714"/>
                <a:ext cx="6550708" cy="5384904"/>
              </a:xfrm>
              <a:custGeom>
                <a:avLst/>
                <a:gdLst>
                  <a:gd name="connsiteX0" fmla="*/ 0 w 6550708"/>
                  <a:gd name="connsiteY0" fmla="*/ 0 h 5384904"/>
                  <a:gd name="connsiteX1" fmla="*/ 6550708 w 6550708"/>
                  <a:gd name="connsiteY1" fmla="*/ 0 h 5384904"/>
                  <a:gd name="connsiteX2" fmla="*/ 6550708 w 6550708"/>
                  <a:gd name="connsiteY2" fmla="*/ 5384904 h 5384904"/>
                  <a:gd name="connsiteX3" fmla="*/ 0 w 6550708"/>
                  <a:gd name="connsiteY3" fmla="*/ 5384904 h 5384904"/>
                  <a:gd name="connsiteX4" fmla="*/ 0 w 6550708"/>
                  <a:gd name="connsiteY4" fmla="*/ 0 h 5384904"/>
                  <a:gd name="connsiteX5" fmla="*/ 4181045 w 6550708"/>
                  <a:gd name="connsiteY5" fmla="*/ 85846 h 5384904"/>
                  <a:gd name="connsiteX6" fmla="*/ 4181045 w 6550708"/>
                  <a:gd name="connsiteY6" fmla="*/ 985286 h 5384904"/>
                  <a:gd name="connsiteX7" fmla="*/ 5454674 w 6550708"/>
                  <a:gd name="connsiteY7" fmla="*/ 985286 h 5384904"/>
                  <a:gd name="connsiteX8" fmla="*/ 5454674 w 6550708"/>
                  <a:gd name="connsiteY8" fmla="*/ 85846 h 5384904"/>
                  <a:gd name="connsiteX9" fmla="*/ 4181045 w 6550708"/>
                  <a:gd name="connsiteY9" fmla="*/ 85846 h 5384904"/>
                  <a:gd name="connsiteX10" fmla="*/ 327503 w 6550708"/>
                  <a:gd name="connsiteY10" fmla="*/ 1294160 h 5384904"/>
                  <a:gd name="connsiteX11" fmla="*/ 327503 w 6550708"/>
                  <a:gd name="connsiteY11" fmla="*/ 3671600 h 5384904"/>
                  <a:gd name="connsiteX12" fmla="*/ 1666445 w 6550708"/>
                  <a:gd name="connsiteY12" fmla="*/ 3671600 h 5384904"/>
                  <a:gd name="connsiteX13" fmla="*/ 1666445 w 6550708"/>
                  <a:gd name="connsiteY13" fmla="*/ 1294160 h 5384904"/>
                  <a:gd name="connsiteX14" fmla="*/ 327503 w 6550708"/>
                  <a:gd name="connsiteY14" fmla="*/ 1294160 h 5384904"/>
                  <a:gd name="connsiteX15" fmla="*/ 6035971 w 6550708"/>
                  <a:gd name="connsiteY15" fmla="*/ 1842800 h 5384904"/>
                  <a:gd name="connsiteX16" fmla="*/ 6035971 w 6550708"/>
                  <a:gd name="connsiteY16" fmla="*/ 3527909 h 5384904"/>
                  <a:gd name="connsiteX17" fmla="*/ 6460514 w 6550708"/>
                  <a:gd name="connsiteY17" fmla="*/ 3527909 h 5384904"/>
                  <a:gd name="connsiteX18" fmla="*/ 6460514 w 6550708"/>
                  <a:gd name="connsiteY18" fmla="*/ 1842800 h 5384904"/>
                  <a:gd name="connsiteX19" fmla="*/ 6035971 w 6550708"/>
                  <a:gd name="connsiteY19" fmla="*/ 1842800 h 5384904"/>
                  <a:gd name="connsiteX20" fmla="*/ 2887823 w 6550708"/>
                  <a:gd name="connsiteY20" fmla="*/ 1842801 h 5384904"/>
                  <a:gd name="connsiteX21" fmla="*/ 2887823 w 6550708"/>
                  <a:gd name="connsiteY21" fmla="*/ 2561257 h 5384904"/>
                  <a:gd name="connsiteX22" fmla="*/ 4710091 w 6550708"/>
                  <a:gd name="connsiteY22" fmla="*/ 2561257 h 5384904"/>
                  <a:gd name="connsiteX23" fmla="*/ 4710091 w 6550708"/>
                  <a:gd name="connsiteY23" fmla="*/ 1842801 h 5384904"/>
                  <a:gd name="connsiteX24" fmla="*/ 2887823 w 6550708"/>
                  <a:gd name="connsiteY24" fmla="*/ 1842801 h 5384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550708" h="5384904">
                    <a:moveTo>
                      <a:pt x="0" y="0"/>
                    </a:moveTo>
                    <a:lnTo>
                      <a:pt x="6550708" y="0"/>
                    </a:lnTo>
                    <a:lnTo>
                      <a:pt x="6550708" y="5384904"/>
                    </a:lnTo>
                    <a:lnTo>
                      <a:pt x="0" y="5384904"/>
                    </a:lnTo>
                    <a:lnTo>
                      <a:pt x="0" y="0"/>
                    </a:lnTo>
                    <a:close/>
                    <a:moveTo>
                      <a:pt x="4181045" y="85846"/>
                    </a:moveTo>
                    <a:lnTo>
                      <a:pt x="4181045" y="985286"/>
                    </a:lnTo>
                    <a:lnTo>
                      <a:pt x="5454674" y="985286"/>
                    </a:lnTo>
                    <a:lnTo>
                      <a:pt x="5454674" y="85846"/>
                    </a:lnTo>
                    <a:lnTo>
                      <a:pt x="4181045" y="85846"/>
                    </a:lnTo>
                    <a:close/>
                    <a:moveTo>
                      <a:pt x="327503" y="1294160"/>
                    </a:moveTo>
                    <a:lnTo>
                      <a:pt x="327503" y="3671600"/>
                    </a:lnTo>
                    <a:lnTo>
                      <a:pt x="1666445" y="3671600"/>
                    </a:lnTo>
                    <a:lnTo>
                      <a:pt x="1666445" y="1294160"/>
                    </a:lnTo>
                    <a:lnTo>
                      <a:pt x="327503" y="1294160"/>
                    </a:lnTo>
                    <a:close/>
                    <a:moveTo>
                      <a:pt x="6035971" y="1842800"/>
                    </a:moveTo>
                    <a:lnTo>
                      <a:pt x="6035971" y="3527909"/>
                    </a:lnTo>
                    <a:lnTo>
                      <a:pt x="6460514" y="3527909"/>
                    </a:lnTo>
                    <a:lnTo>
                      <a:pt x="6460514" y="1842800"/>
                    </a:lnTo>
                    <a:lnTo>
                      <a:pt x="6035971" y="1842800"/>
                    </a:lnTo>
                    <a:close/>
                    <a:moveTo>
                      <a:pt x="2887823" y="1842801"/>
                    </a:moveTo>
                    <a:lnTo>
                      <a:pt x="2887823" y="2561257"/>
                    </a:lnTo>
                    <a:lnTo>
                      <a:pt x="4710091" y="2561257"/>
                    </a:lnTo>
                    <a:lnTo>
                      <a:pt x="4710091" y="1842801"/>
                    </a:lnTo>
                    <a:lnTo>
                      <a:pt x="2887823" y="1842801"/>
                    </a:lnTo>
                    <a:close/>
                  </a:path>
                </a:pathLst>
              </a:custGeom>
            </p:spPr>
          </p:pic>
          <p:cxnSp>
            <p:nvCxnSpPr>
              <p:cNvPr id="173" name="Verbinder: gewinkelt 172">
                <a:extLst>
                  <a:ext uri="{FF2B5EF4-FFF2-40B4-BE49-F238E27FC236}">
                    <a16:creationId xmlns:a16="http://schemas.microsoft.com/office/drawing/2014/main" id="{CC17A56D-DEE1-B437-952F-0CB8D258D0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01020" y="2757089"/>
                <a:ext cx="1854396" cy="453243"/>
              </a:xfrm>
              <a:prstGeom prst="bentConnector3">
                <a:avLst>
                  <a:gd name="adj1" fmla="val 23253"/>
                </a:avLst>
              </a:prstGeom>
              <a:ln w="76200">
                <a:solidFill>
                  <a:schemeClr val="accent2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Verbinder: gewinkelt 177">
                <a:extLst>
                  <a:ext uri="{FF2B5EF4-FFF2-40B4-BE49-F238E27FC236}">
                    <a16:creationId xmlns:a16="http://schemas.microsoft.com/office/drawing/2014/main" id="{131EEFB2-F667-C8B1-9E7A-519EF308F1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890260" y="3217211"/>
                <a:ext cx="1865156" cy="536382"/>
              </a:xfrm>
              <a:prstGeom prst="bentConnector3">
                <a:avLst>
                  <a:gd name="adj1" fmla="val 23701"/>
                </a:avLst>
              </a:prstGeom>
              <a:ln w="76200">
                <a:solidFill>
                  <a:schemeClr val="accent2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Verbinder: gewinkelt 180">
                <a:extLst>
                  <a:ext uri="{FF2B5EF4-FFF2-40B4-BE49-F238E27FC236}">
                    <a16:creationId xmlns:a16="http://schemas.microsoft.com/office/drawing/2014/main" id="{A3F06AEF-E8EA-77C2-C2A5-11F2CEF3B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30737" y="3167743"/>
                <a:ext cx="1538152" cy="176930"/>
              </a:xfrm>
              <a:prstGeom prst="bentConnector3">
                <a:avLst>
                  <a:gd name="adj1" fmla="val 50000"/>
                </a:avLst>
              </a:prstGeom>
              <a:ln w="76200">
                <a:solidFill>
                  <a:schemeClr val="accent2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Gerade Verbindung mit Pfeil 185">
                <a:extLst>
                  <a:ext uri="{FF2B5EF4-FFF2-40B4-BE49-F238E27FC236}">
                    <a16:creationId xmlns:a16="http://schemas.microsoft.com/office/drawing/2014/main" id="{4DD6EFC7-5B96-AA51-ABA8-8D3EEC276A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30292" y="1717670"/>
                <a:ext cx="0" cy="1241067"/>
              </a:xfrm>
              <a:prstGeom prst="straightConnector1">
                <a:avLst/>
              </a:prstGeom>
              <a:ln w="76200">
                <a:solidFill>
                  <a:schemeClr val="accent2">
                    <a:lumMod val="75000"/>
                  </a:schemeClr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" name="Verbinder: gewinkelt 9">
              <a:extLst>
                <a:ext uri="{FF2B5EF4-FFF2-40B4-BE49-F238E27FC236}">
                  <a16:creationId xmlns:a16="http://schemas.microsoft.com/office/drawing/2014/main" id="{B59A895E-5A76-A99A-FCCE-5CED0220C2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89184" y="3654501"/>
              <a:ext cx="5260180" cy="514379"/>
            </a:xfrm>
            <a:prstGeom prst="bentConnector3">
              <a:avLst>
                <a:gd name="adj1" fmla="val 8352"/>
              </a:avLst>
            </a:prstGeom>
            <a:ln w="76200">
              <a:solidFill>
                <a:schemeClr val="accent2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Gewitterblitz 22">
            <a:extLst>
              <a:ext uri="{FF2B5EF4-FFF2-40B4-BE49-F238E27FC236}">
                <a16:creationId xmlns:a16="http://schemas.microsoft.com/office/drawing/2014/main" id="{C5328880-E06B-B871-A76D-844D9AEB15E4}"/>
              </a:ext>
            </a:extLst>
          </p:cNvPr>
          <p:cNvSpPr/>
          <p:nvPr/>
        </p:nvSpPr>
        <p:spPr>
          <a:xfrm>
            <a:off x="3633658" y="3006156"/>
            <a:ext cx="299482" cy="507595"/>
          </a:xfrm>
          <a:prstGeom prst="lightningBol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Gewitterblitz 23">
            <a:extLst>
              <a:ext uri="{FF2B5EF4-FFF2-40B4-BE49-F238E27FC236}">
                <a16:creationId xmlns:a16="http://schemas.microsoft.com/office/drawing/2014/main" id="{95BF17DD-B43B-C334-D7A7-33E32A88B995}"/>
              </a:ext>
            </a:extLst>
          </p:cNvPr>
          <p:cNvSpPr/>
          <p:nvPr/>
        </p:nvSpPr>
        <p:spPr>
          <a:xfrm>
            <a:off x="6078162" y="2862471"/>
            <a:ext cx="299482" cy="507595"/>
          </a:xfrm>
          <a:prstGeom prst="lightningBol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Gewitterblitz 24">
            <a:extLst>
              <a:ext uri="{FF2B5EF4-FFF2-40B4-BE49-F238E27FC236}">
                <a16:creationId xmlns:a16="http://schemas.microsoft.com/office/drawing/2014/main" id="{1292A49C-79B8-6CCA-0B1C-78FF5E6ADAC0}"/>
              </a:ext>
            </a:extLst>
          </p:cNvPr>
          <p:cNvSpPr/>
          <p:nvPr/>
        </p:nvSpPr>
        <p:spPr>
          <a:xfrm>
            <a:off x="8375033" y="3085631"/>
            <a:ext cx="299482" cy="507595"/>
          </a:xfrm>
          <a:prstGeom prst="lightningBolt">
            <a:avLst/>
          </a:prstGeom>
          <a:solidFill>
            <a:srgbClr val="FF0000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7CC3EEA-D9C7-E0A6-B07B-EE16401B40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546805" y="3583926"/>
            <a:ext cx="5236918" cy="2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292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06232554-C8F1-6F21-4B48-2A034423349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FB0426A-7D73-120E-CA1F-9596BBDDA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34D5E55-21B0-73B4-54F7-06D173812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722BAD-16BC-087E-609D-BE34811C8B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9D5068-CD14-C2DD-AF55-949D259C5B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44ED6F2-3B6F-18B5-E5F3-48CD52BC92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1241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8D5BB3-510D-ADDF-F765-5A85D6DB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8FEC895-6B40-1CD8-F6A9-41351EEC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Cache Partitioning</a:t>
            </a:r>
            <a:endParaRPr lang="de-DE" dirty="0"/>
          </a:p>
          <a:p>
            <a:endParaRPr lang="de-DE" dirty="0"/>
          </a:p>
          <a:p>
            <a:r>
              <a:rPr lang="en-US" dirty="0" err="1"/>
              <a:t>Schedulability</a:t>
            </a:r>
            <a:r>
              <a:rPr lang="en-US" dirty="0"/>
              <a:t> Analysis</a:t>
            </a:r>
          </a:p>
          <a:p>
            <a:endParaRPr lang="de-DE" dirty="0"/>
          </a:p>
          <a:p>
            <a:r>
              <a:rPr lang="en-US" dirty="0"/>
              <a:t>Disabling Secondary Cores (Single-Active Core)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→ Causes a lot of performance degradation</a:t>
            </a:r>
          </a:p>
          <a:p>
            <a:pPr marL="0" indent="0">
              <a:buNone/>
            </a:pPr>
            <a:r>
              <a:rPr lang="en-US" dirty="0"/>
              <a:t>→ Often only mitigates a specific Interference Channel</a:t>
            </a:r>
          </a:p>
          <a:p>
            <a:pPr marL="0" indent="0">
              <a:buNone/>
            </a:pPr>
            <a:r>
              <a:rPr lang="en-US" dirty="0"/>
              <a:t>→ Requires intricate knowledge of Hardware Implementation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843666-39DF-6E76-E359-9E25154AE9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F348048-2D8D-FA8A-73FE-219585C42F2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Static Mitigation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C2B3C81-EE1A-1A7A-F158-696200F8715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9525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9662C8-A3B5-9B5F-55C4-93FF71046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DBBF91B-F582-46C9-56A3-664B1883E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Trade-Off has to be made 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E5684A9-311E-9152-7CDC-6760BEDF3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7DEF0-5385-A613-687C-205C6179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DD80FF16-5230-7B26-BA95-9A751A5FD2D4}"/>
              </a:ext>
            </a:extLst>
          </p:cNvPr>
          <p:cNvGrpSpPr/>
          <p:nvPr/>
        </p:nvGrpSpPr>
        <p:grpSpPr>
          <a:xfrm>
            <a:off x="1112216" y="3114700"/>
            <a:ext cx="10639741" cy="1920849"/>
            <a:chOff x="1021382" y="2535902"/>
            <a:chExt cx="10639741" cy="1920849"/>
          </a:xfrm>
        </p:grpSpPr>
        <p:sp>
          <p:nvSpPr>
            <p:cNvPr id="9" name="Pfeil: nach links und rechts 8">
              <a:extLst>
                <a:ext uri="{FF2B5EF4-FFF2-40B4-BE49-F238E27FC236}">
                  <a16:creationId xmlns:a16="http://schemas.microsoft.com/office/drawing/2014/main" id="{0C3B3142-71AE-1DBE-77DC-2A65D048947E}"/>
                </a:ext>
              </a:extLst>
            </p:cNvPr>
            <p:cNvSpPr/>
            <p:nvPr/>
          </p:nvSpPr>
          <p:spPr>
            <a:xfrm>
              <a:off x="2523179" y="3182233"/>
              <a:ext cx="7145642" cy="484450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" name="Textfeld 9">
              <a:extLst>
                <a:ext uri="{FF2B5EF4-FFF2-40B4-BE49-F238E27FC236}">
                  <a16:creationId xmlns:a16="http://schemas.microsoft.com/office/drawing/2014/main" id="{D096BAF6-A71B-C87D-1635-8DC7D3F9E489}"/>
                </a:ext>
              </a:extLst>
            </p:cNvPr>
            <p:cNvSpPr txBox="1"/>
            <p:nvPr/>
          </p:nvSpPr>
          <p:spPr>
            <a:xfrm>
              <a:off x="1021382" y="3239791"/>
              <a:ext cx="150179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Single-Core</a:t>
              </a:r>
              <a:endParaRPr lang="de-DE" dirty="0"/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C7ADB052-2D89-A601-512F-A9E2FB3A42A0}"/>
                </a:ext>
              </a:extLst>
            </p:cNvPr>
            <p:cNvSpPr txBox="1"/>
            <p:nvPr/>
          </p:nvSpPr>
          <p:spPr>
            <a:xfrm>
              <a:off x="9735433" y="3239791"/>
              <a:ext cx="192569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Multi-Core</a:t>
              </a:r>
              <a:endParaRPr lang="de-DE" dirty="0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6F4857E-58D4-0590-B93E-1EB24DFBDE03}"/>
                </a:ext>
              </a:extLst>
            </p:cNvPr>
            <p:cNvSpPr txBox="1"/>
            <p:nvPr/>
          </p:nvSpPr>
          <p:spPr>
            <a:xfrm>
              <a:off x="2752725" y="3810420"/>
              <a:ext cx="1696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Temporal Determinism </a:t>
              </a:r>
              <a:endParaRPr lang="de-DE" dirty="0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348D37A-67E0-1900-FE8A-77784FB51644}"/>
                </a:ext>
              </a:extLst>
            </p:cNvPr>
            <p:cNvSpPr txBox="1"/>
            <p:nvPr/>
          </p:nvSpPr>
          <p:spPr>
            <a:xfrm>
              <a:off x="7972223" y="3804665"/>
              <a:ext cx="1696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Multi-Core Interference</a:t>
              </a:r>
              <a:endParaRPr lang="de-DE" dirty="0"/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B3182E1B-47ED-37E7-7270-7889BFCA1ACD}"/>
                </a:ext>
              </a:extLst>
            </p:cNvPr>
            <p:cNvSpPr txBox="1"/>
            <p:nvPr/>
          </p:nvSpPr>
          <p:spPr>
            <a:xfrm>
              <a:off x="7972223" y="2535902"/>
              <a:ext cx="1696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Multi-Core Advantages</a:t>
              </a:r>
              <a:endParaRPr lang="de-DE" dirty="0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B3AB7B9-2DD0-46A3-21FC-23468939DD0D}"/>
                </a:ext>
              </a:extLst>
            </p:cNvPr>
            <p:cNvSpPr txBox="1"/>
            <p:nvPr/>
          </p:nvSpPr>
          <p:spPr>
            <a:xfrm>
              <a:off x="2752725" y="2542348"/>
              <a:ext cx="169659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It’s Not</a:t>
              </a:r>
            </a:p>
            <a:p>
              <a:r>
                <a:rPr lang="en-US" dirty="0"/>
                <a:t>Multi-Core</a:t>
              </a:r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319667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D44813-A166-5EF0-FB01-8AF85C933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9AC4D0-A14F-CB49-B1BD-3931DE5B9F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Interference degrades Execution Speed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Execution Speed is observable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Interference is caused by Software Execution</a:t>
            </a:r>
          </a:p>
          <a:p>
            <a:endParaRPr lang="en-US" dirty="0"/>
          </a:p>
          <a:p>
            <a:endParaRPr lang="en-US" dirty="0"/>
          </a:p>
          <a:p>
            <a:r>
              <a:rPr lang="de-DE" dirty="0"/>
              <a:t>Software </a:t>
            </a:r>
            <a:r>
              <a:rPr lang="de-DE" dirty="0" err="1"/>
              <a:t>Execution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controllable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E26169D-C975-B5F1-A6D7-B8C8184341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D6864AA-2D10-DD96-DBD6-F32A300466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Naïve Idea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E41F5E-39C5-3D7D-E28E-EFD83384572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4389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2A5D4-B56C-696A-F037-85C9D075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1A4EDB3-6825-2CA8-4715-59AAE97EF4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6" y="2095625"/>
            <a:ext cx="5108574" cy="4428999"/>
          </a:xfrm>
        </p:spPr>
        <p:txBody>
          <a:bodyPr>
            <a:normAutofit/>
          </a:bodyPr>
          <a:lstStyle/>
          <a:p>
            <a:r>
              <a:rPr lang="en-US" dirty="0"/>
              <a:t>Measure Computational Progress</a:t>
            </a:r>
          </a:p>
          <a:p>
            <a:endParaRPr lang="en-US" dirty="0"/>
          </a:p>
          <a:p>
            <a:r>
              <a:rPr lang="en-US" dirty="0"/>
              <a:t>Extrapolate throughput to</a:t>
            </a:r>
            <a:br>
              <a:rPr lang="en-US" dirty="0"/>
            </a:br>
            <a:r>
              <a:rPr lang="en-US" dirty="0"/>
              <a:t>exp. Time-of-Completion</a:t>
            </a:r>
          </a:p>
          <a:p>
            <a:endParaRPr lang="en-US" dirty="0"/>
          </a:p>
          <a:p>
            <a:r>
              <a:rPr lang="en-US" dirty="0"/>
              <a:t>Control-Loop to keep deadline</a:t>
            </a:r>
          </a:p>
          <a:p>
            <a:endParaRPr lang="en-US" dirty="0"/>
          </a:p>
          <a:p>
            <a:r>
              <a:rPr lang="en-US" dirty="0"/>
              <a:t>Activate Mitigation if necessary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7EBBB4E-7195-92C0-4FEC-90400DAFEF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69D3156-6C4D-0FE7-392C-0D9030BC337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Mitigation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C96A48E-B82E-20ED-F41C-7820DECCB08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pic>
        <p:nvPicPr>
          <p:cNvPr id="12" name="Inhaltsplatzhalter 8">
            <a:extLst>
              <a:ext uri="{FF2B5EF4-FFF2-40B4-BE49-F238E27FC236}">
                <a16:creationId xmlns:a16="http://schemas.microsoft.com/office/drawing/2014/main" id="{F4FE4619-D10C-407A-EC19-FEDB536BA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6775" y="2156142"/>
            <a:ext cx="7245097" cy="318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695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40C7AD-EBB9-89D6-241F-484BA265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FCBD45-5CC2-04C3-CDB8-C0B9CB0DC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5621392" cy="4428999"/>
          </a:xfrm>
        </p:spPr>
        <p:txBody>
          <a:bodyPr>
            <a:normAutofit/>
          </a:bodyPr>
          <a:lstStyle/>
          <a:p>
            <a:r>
              <a:rPr lang="en-US" dirty="0"/>
              <a:t>Independent of interference channel mechanism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Catches all interference caused by software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 hardware knowledge required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1929A45-C3A2-BBE6-7FCF-A07C70FEB5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5E6877E-4527-9EF2-8DDA-D41803DCB6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Advantages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72C4210-101E-3F7E-55D5-C299E7AF67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0239156B-7E43-1699-D64A-E5750A920E59}"/>
              </a:ext>
            </a:extLst>
          </p:cNvPr>
          <p:cNvSpPr txBox="1">
            <a:spLocks/>
          </p:cNvSpPr>
          <p:nvPr/>
        </p:nvSpPr>
        <p:spPr>
          <a:xfrm>
            <a:off x="6810705" y="2095625"/>
            <a:ext cx="4908330" cy="4428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Only one Critical Task can run at any time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All other Tasks have to be considered Non-Critical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platzhalter 4">
            <a:extLst>
              <a:ext uri="{FF2B5EF4-FFF2-40B4-BE49-F238E27FC236}">
                <a16:creationId xmlns:a16="http://schemas.microsoft.com/office/drawing/2014/main" id="{0E62092F-854B-2440-810F-9D477219C673}"/>
              </a:ext>
            </a:extLst>
          </p:cNvPr>
          <p:cNvSpPr txBox="1">
            <a:spLocks/>
          </p:cNvSpPr>
          <p:nvPr/>
        </p:nvSpPr>
        <p:spPr>
          <a:xfrm>
            <a:off x="6810704" y="1487788"/>
            <a:ext cx="3482038" cy="439824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1800" b="1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Disadvantages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2067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0670A-CF1F-E29E-2CCB-1DB42D12C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Mitigation Strategies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B673D5-99F3-4E6C-9ECD-0A429795B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How to measure the Computational Progress?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de-DE" dirty="0"/>
              <a:t>In Software: Checkpoints</a:t>
            </a:r>
          </a:p>
          <a:p>
            <a:pPr lvl="1"/>
            <a:r>
              <a:rPr lang="en-US" dirty="0"/>
              <a:t>In known Intervals (fixed amount of Compute between Checkpoints)</a:t>
            </a:r>
          </a:p>
          <a:p>
            <a:pPr marL="457200" lvl="1" indent="0">
              <a:buNone/>
            </a:pPr>
            <a:r>
              <a:rPr lang="de-DE" dirty="0"/>
              <a:t>→ Intrusive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Application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In Hardware: Performance Monitoring Unit</a:t>
            </a:r>
          </a:p>
          <a:p>
            <a:pPr lvl="1"/>
            <a:r>
              <a:rPr lang="en-US" dirty="0"/>
              <a:t>I.e. via Instruction Counting</a:t>
            </a:r>
          </a:p>
          <a:p>
            <a:pPr marL="457200" lvl="1" indent="0">
              <a:buNone/>
            </a:pPr>
            <a:r>
              <a:rPr lang="de-DE" dirty="0"/>
              <a:t>→ </a:t>
            </a:r>
            <a:r>
              <a:rPr lang="de-DE" dirty="0" err="1"/>
              <a:t>Causes</a:t>
            </a:r>
            <a:r>
              <a:rPr lang="de-DE" dirty="0"/>
              <a:t> </a:t>
            </a:r>
            <a:r>
              <a:rPr lang="de-DE" dirty="0" err="1"/>
              <a:t>tight</a:t>
            </a:r>
            <a:r>
              <a:rPr lang="de-DE" dirty="0"/>
              <a:t> </a:t>
            </a:r>
            <a:r>
              <a:rPr lang="de-DE" dirty="0" err="1"/>
              <a:t>coupling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Software and Hardware</a:t>
            </a:r>
            <a:endParaRPr lang="en-US" dirty="0"/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154ED8F-2A42-0DDC-3D1C-AE31A12E70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2B2F4CC-3530-2D10-7AAA-C1D57F84BCC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Dynamic Mitigation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0644AC-E2EF-ADC9-E03D-2475F7BBBFA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2093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58F0F97F-7A4E-3986-885C-1B9DD411A1C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58D82CA-39C6-08D8-59DA-D98669BE73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D338ABD-E784-0FCF-E26B-EFA2AA1A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Dynamic mitigation with </a:t>
            </a:r>
            <a:r>
              <a:rPr lang="en-US" dirty="0" err="1"/>
              <a:t>WebAssembly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F2FAAD3-8367-006D-4113-E09A4E2DBE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2D5D2E-8722-3116-DB7D-2305F1D846A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0F63D1-7E6C-542E-CEA7-DA7D20BAD2E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6542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D038C5-A322-990D-0331-967CC885A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WebAssembly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0CD22D2-A677-47F9-6005-A785FBC2F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Virtual Instruction Set Architecture</a:t>
            </a:r>
          </a:p>
          <a:p>
            <a:pPr lvl="1"/>
            <a:r>
              <a:rPr lang="en-US" dirty="0"/>
              <a:t>Not Programming Language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Open, Formal Specification</a:t>
            </a:r>
          </a:p>
          <a:p>
            <a:pPr marL="0" indent="0">
              <a:buNone/>
            </a:pPr>
            <a:endParaRPr lang="de-DE" dirty="0"/>
          </a:p>
          <a:p>
            <a:r>
              <a:rPr lang="en-US" dirty="0"/>
              <a:t>Strict Spatial Isolation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 err="1"/>
              <a:t>Strict</a:t>
            </a:r>
            <a:r>
              <a:rPr lang="de-DE" dirty="0"/>
              <a:t> Type-Checking and Validation at </a:t>
            </a:r>
            <a:r>
              <a:rPr lang="de-DE" dirty="0" err="1"/>
              <a:t>Runtime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/>
              <a:t>→ </a:t>
            </a:r>
            <a:r>
              <a:rPr lang="en-US" dirty="0"/>
              <a:t>Potentially valuable for Avionics</a:t>
            </a:r>
            <a:r>
              <a:rPr lang="de-DE" dirty="0"/>
              <a:t>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EB2C0D-4BE4-060F-92B9-BDD2334323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8C26DF-CC63-1397-C221-00C9A461A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4725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B380EB-FC1F-674B-F9B9-964CB35C4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WebAssembly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6CE059E-7788-21FB-52BF-CBBA324F88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26DF149-33E3-6CBF-D605-5F413CA3300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Fuel Mechanism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4EC163B-BAA7-CB0A-528F-E522EAF16C8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C227DCA3-299C-3B3A-A5D1-E0A8530E73B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2" t="18178" r="35803" b="42445"/>
          <a:stretch>
            <a:fillRect/>
          </a:stretch>
        </p:blipFill>
        <p:spPr>
          <a:xfrm>
            <a:off x="6521913" y="2900647"/>
            <a:ext cx="502617" cy="1744022"/>
          </a:xfrm>
          <a:custGeom>
            <a:avLst/>
            <a:gdLst>
              <a:gd name="connsiteX0" fmla="*/ 0 w 502617"/>
              <a:gd name="connsiteY0" fmla="*/ 0 h 1744022"/>
              <a:gd name="connsiteX1" fmla="*/ 502617 w 502617"/>
              <a:gd name="connsiteY1" fmla="*/ 0 h 1744022"/>
              <a:gd name="connsiteX2" fmla="*/ 502617 w 502617"/>
              <a:gd name="connsiteY2" fmla="*/ 1744022 h 1744022"/>
              <a:gd name="connsiteX3" fmla="*/ 0 w 502617"/>
              <a:gd name="connsiteY3" fmla="*/ 1744022 h 1744022"/>
              <a:gd name="connsiteX4" fmla="*/ 0 w 502617"/>
              <a:gd name="connsiteY4" fmla="*/ 0 h 1744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617" h="1744022">
                <a:moveTo>
                  <a:pt x="0" y="0"/>
                </a:moveTo>
                <a:lnTo>
                  <a:pt x="502617" y="0"/>
                </a:lnTo>
                <a:lnTo>
                  <a:pt x="502617" y="1744022"/>
                </a:lnTo>
                <a:lnTo>
                  <a:pt x="0" y="174402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357665EA-23E8-63C9-D071-71ECFD0CC4F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6" t="18178" r="1823" b="42445"/>
          <a:stretch>
            <a:fillRect/>
          </a:stretch>
        </p:blipFill>
        <p:spPr>
          <a:xfrm>
            <a:off x="7654314" y="2900647"/>
            <a:ext cx="1592631" cy="1744022"/>
          </a:xfrm>
          <a:custGeom>
            <a:avLst/>
            <a:gdLst>
              <a:gd name="connsiteX0" fmla="*/ 0 w 1592631"/>
              <a:gd name="connsiteY0" fmla="*/ 0 h 1744022"/>
              <a:gd name="connsiteX1" fmla="*/ 1592631 w 1592631"/>
              <a:gd name="connsiteY1" fmla="*/ 0 h 1744022"/>
              <a:gd name="connsiteX2" fmla="*/ 1592631 w 1592631"/>
              <a:gd name="connsiteY2" fmla="*/ 1744022 h 1744022"/>
              <a:gd name="connsiteX3" fmla="*/ 0 w 1592631"/>
              <a:gd name="connsiteY3" fmla="*/ 1744022 h 1744022"/>
              <a:gd name="connsiteX4" fmla="*/ 0 w 1592631"/>
              <a:gd name="connsiteY4" fmla="*/ 0 h 1744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2631" h="1744022">
                <a:moveTo>
                  <a:pt x="0" y="0"/>
                </a:moveTo>
                <a:lnTo>
                  <a:pt x="1592631" y="0"/>
                </a:lnTo>
                <a:lnTo>
                  <a:pt x="1592631" y="1744022"/>
                </a:lnTo>
                <a:lnTo>
                  <a:pt x="0" y="1744022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6" name="Grafik 45">
            <a:extLst>
              <a:ext uri="{FF2B5EF4-FFF2-40B4-BE49-F238E27FC236}">
                <a16:creationId xmlns:a16="http://schemas.microsoft.com/office/drawing/2014/main" id="{9ED80AB9-5DE3-F423-1AEA-A0F823D2CC6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12" t="79157" r="35803" b="6351"/>
          <a:stretch>
            <a:fillRect/>
          </a:stretch>
        </p:blipFill>
        <p:spPr>
          <a:xfrm>
            <a:off x="6521913" y="5601456"/>
            <a:ext cx="502617" cy="641897"/>
          </a:xfrm>
          <a:custGeom>
            <a:avLst/>
            <a:gdLst>
              <a:gd name="connsiteX0" fmla="*/ 0 w 502617"/>
              <a:gd name="connsiteY0" fmla="*/ 0 h 641897"/>
              <a:gd name="connsiteX1" fmla="*/ 502617 w 502617"/>
              <a:gd name="connsiteY1" fmla="*/ 0 h 641897"/>
              <a:gd name="connsiteX2" fmla="*/ 502617 w 502617"/>
              <a:gd name="connsiteY2" fmla="*/ 641897 h 641897"/>
              <a:gd name="connsiteX3" fmla="*/ 0 w 502617"/>
              <a:gd name="connsiteY3" fmla="*/ 641897 h 641897"/>
              <a:gd name="connsiteX4" fmla="*/ 0 w 502617"/>
              <a:gd name="connsiteY4" fmla="*/ 0 h 641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2617" h="641897">
                <a:moveTo>
                  <a:pt x="0" y="0"/>
                </a:moveTo>
                <a:lnTo>
                  <a:pt x="502617" y="0"/>
                </a:lnTo>
                <a:lnTo>
                  <a:pt x="502617" y="641897"/>
                </a:lnTo>
                <a:lnTo>
                  <a:pt x="0" y="64189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4E6EF7E2-EF6C-DC37-FAE2-DF9953DFCC7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6" t="79157" r="1823" b="6351"/>
          <a:stretch>
            <a:fillRect/>
          </a:stretch>
        </p:blipFill>
        <p:spPr>
          <a:xfrm>
            <a:off x="7654314" y="5601456"/>
            <a:ext cx="1592631" cy="641897"/>
          </a:xfrm>
          <a:custGeom>
            <a:avLst/>
            <a:gdLst>
              <a:gd name="connsiteX0" fmla="*/ 0 w 1592631"/>
              <a:gd name="connsiteY0" fmla="*/ 0 h 641897"/>
              <a:gd name="connsiteX1" fmla="*/ 1592631 w 1592631"/>
              <a:gd name="connsiteY1" fmla="*/ 0 h 641897"/>
              <a:gd name="connsiteX2" fmla="*/ 1592631 w 1592631"/>
              <a:gd name="connsiteY2" fmla="*/ 641897 h 641897"/>
              <a:gd name="connsiteX3" fmla="*/ 0 w 1592631"/>
              <a:gd name="connsiteY3" fmla="*/ 641897 h 641897"/>
              <a:gd name="connsiteX4" fmla="*/ 0 w 1592631"/>
              <a:gd name="connsiteY4" fmla="*/ 0 h 641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2631" h="641897">
                <a:moveTo>
                  <a:pt x="0" y="0"/>
                </a:moveTo>
                <a:lnTo>
                  <a:pt x="1592631" y="0"/>
                </a:lnTo>
                <a:lnTo>
                  <a:pt x="1592631" y="641897"/>
                </a:lnTo>
                <a:lnTo>
                  <a:pt x="0" y="641897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614CE0D7-1403-CD13-32DD-3875A79A73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25820" y="2095500"/>
            <a:ext cx="6540359" cy="4429125"/>
          </a:xfrm>
          <a:custGeom>
            <a:avLst/>
            <a:gdLst>
              <a:gd name="connsiteX0" fmla="*/ 0 w 6540359"/>
              <a:gd name="connsiteY0" fmla="*/ 0 h 4429125"/>
              <a:gd name="connsiteX1" fmla="*/ 6540359 w 6540359"/>
              <a:gd name="connsiteY1" fmla="*/ 0 h 4429125"/>
              <a:gd name="connsiteX2" fmla="*/ 6540359 w 6540359"/>
              <a:gd name="connsiteY2" fmla="*/ 4429125 h 4429125"/>
              <a:gd name="connsiteX3" fmla="*/ 0 w 6540359"/>
              <a:gd name="connsiteY3" fmla="*/ 4429125 h 4429125"/>
              <a:gd name="connsiteX4" fmla="*/ 0 w 6540359"/>
              <a:gd name="connsiteY4" fmla="*/ 0 h 4429125"/>
              <a:gd name="connsiteX5" fmla="*/ 3696093 w 6540359"/>
              <a:gd name="connsiteY5" fmla="*/ 805147 h 4429125"/>
              <a:gd name="connsiteX6" fmla="*/ 3696093 w 6540359"/>
              <a:gd name="connsiteY6" fmla="*/ 2549169 h 4429125"/>
              <a:gd name="connsiteX7" fmla="*/ 4198710 w 6540359"/>
              <a:gd name="connsiteY7" fmla="*/ 2549169 h 4429125"/>
              <a:gd name="connsiteX8" fmla="*/ 4198710 w 6540359"/>
              <a:gd name="connsiteY8" fmla="*/ 805147 h 4429125"/>
              <a:gd name="connsiteX9" fmla="*/ 3696093 w 6540359"/>
              <a:gd name="connsiteY9" fmla="*/ 805147 h 4429125"/>
              <a:gd name="connsiteX10" fmla="*/ 4828494 w 6540359"/>
              <a:gd name="connsiteY10" fmla="*/ 805147 h 4429125"/>
              <a:gd name="connsiteX11" fmla="*/ 4828494 w 6540359"/>
              <a:gd name="connsiteY11" fmla="*/ 2549169 h 4429125"/>
              <a:gd name="connsiteX12" fmla="*/ 6421125 w 6540359"/>
              <a:gd name="connsiteY12" fmla="*/ 2549169 h 4429125"/>
              <a:gd name="connsiteX13" fmla="*/ 6421125 w 6540359"/>
              <a:gd name="connsiteY13" fmla="*/ 805147 h 4429125"/>
              <a:gd name="connsiteX14" fmla="*/ 4828494 w 6540359"/>
              <a:gd name="connsiteY14" fmla="*/ 805147 h 4429125"/>
              <a:gd name="connsiteX15" fmla="*/ 3696093 w 6540359"/>
              <a:gd name="connsiteY15" fmla="*/ 3505956 h 4429125"/>
              <a:gd name="connsiteX16" fmla="*/ 3696093 w 6540359"/>
              <a:gd name="connsiteY16" fmla="*/ 4147853 h 4429125"/>
              <a:gd name="connsiteX17" fmla="*/ 4198710 w 6540359"/>
              <a:gd name="connsiteY17" fmla="*/ 4147853 h 4429125"/>
              <a:gd name="connsiteX18" fmla="*/ 4198710 w 6540359"/>
              <a:gd name="connsiteY18" fmla="*/ 3505956 h 4429125"/>
              <a:gd name="connsiteX19" fmla="*/ 3696093 w 6540359"/>
              <a:gd name="connsiteY19" fmla="*/ 3505956 h 4429125"/>
              <a:gd name="connsiteX20" fmla="*/ 4828494 w 6540359"/>
              <a:gd name="connsiteY20" fmla="*/ 3505956 h 4429125"/>
              <a:gd name="connsiteX21" fmla="*/ 4828494 w 6540359"/>
              <a:gd name="connsiteY21" fmla="*/ 4147853 h 4429125"/>
              <a:gd name="connsiteX22" fmla="*/ 6421125 w 6540359"/>
              <a:gd name="connsiteY22" fmla="*/ 4147853 h 4429125"/>
              <a:gd name="connsiteX23" fmla="*/ 6421125 w 6540359"/>
              <a:gd name="connsiteY23" fmla="*/ 3505956 h 4429125"/>
              <a:gd name="connsiteX24" fmla="*/ 4828494 w 6540359"/>
              <a:gd name="connsiteY24" fmla="*/ 3505956 h 4429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540359" h="4429125">
                <a:moveTo>
                  <a:pt x="0" y="0"/>
                </a:moveTo>
                <a:lnTo>
                  <a:pt x="6540359" y="0"/>
                </a:lnTo>
                <a:lnTo>
                  <a:pt x="6540359" y="4429125"/>
                </a:lnTo>
                <a:lnTo>
                  <a:pt x="0" y="4429125"/>
                </a:lnTo>
                <a:lnTo>
                  <a:pt x="0" y="0"/>
                </a:lnTo>
                <a:close/>
                <a:moveTo>
                  <a:pt x="3696093" y="805147"/>
                </a:moveTo>
                <a:lnTo>
                  <a:pt x="3696093" y="2549169"/>
                </a:lnTo>
                <a:lnTo>
                  <a:pt x="4198710" y="2549169"/>
                </a:lnTo>
                <a:lnTo>
                  <a:pt x="4198710" y="805147"/>
                </a:lnTo>
                <a:lnTo>
                  <a:pt x="3696093" y="805147"/>
                </a:lnTo>
                <a:close/>
                <a:moveTo>
                  <a:pt x="4828494" y="805147"/>
                </a:moveTo>
                <a:lnTo>
                  <a:pt x="4828494" y="2549169"/>
                </a:lnTo>
                <a:lnTo>
                  <a:pt x="6421125" y="2549169"/>
                </a:lnTo>
                <a:lnTo>
                  <a:pt x="6421125" y="805147"/>
                </a:lnTo>
                <a:lnTo>
                  <a:pt x="4828494" y="805147"/>
                </a:lnTo>
                <a:close/>
                <a:moveTo>
                  <a:pt x="3696093" y="3505956"/>
                </a:moveTo>
                <a:lnTo>
                  <a:pt x="3696093" y="4147853"/>
                </a:lnTo>
                <a:lnTo>
                  <a:pt x="4198710" y="4147853"/>
                </a:lnTo>
                <a:lnTo>
                  <a:pt x="4198710" y="3505956"/>
                </a:lnTo>
                <a:lnTo>
                  <a:pt x="3696093" y="3505956"/>
                </a:lnTo>
                <a:close/>
                <a:moveTo>
                  <a:pt x="4828494" y="3505956"/>
                </a:moveTo>
                <a:lnTo>
                  <a:pt x="4828494" y="4147853"/>
                </a:lnTo>
                <a:lnTo>
                  <a:pt x="6421125" y="4147853"/>
                </a:lnTo>
                <a:lnTo>
                  <a:pt x="6421125" y="3505956"/>
                </a:lnTo>
                <a:lnTo>
                  <a:pt x="4828494" y="3505956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83441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4304EB1A-CBC8-BC80-8AD7-5B777D33A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637" y="2806869"/>
            <a:ext cx="8715038" cy="37507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08C9994-1577-96E6-4087-7BE9673D6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Mitigation with </a:t>
            </a:r>
            <a:r>
              <a:rPr lang="en-US" dirty="0" err="1"/>
              <a:t>WebAssembly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B464BD-BAEB-2514-7C27-D44184EC6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46E60C-46B3-441F-5841-A9D0B7CFD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Moritz Meier, Institute of Flight Systems, 10.02.2026</a:t>
            </a:r>
            <a:endParaRPr lang="de-DE" dirty="0"/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08D7945D-4439-67E2-170A-3FA7EFA153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325" y="1490228"/>
            <a:ext cx="10801349" cy="4895850"/>
          </a:xfrm>
        </p:spPr>
        <p:txBody>
          <a:bodyPr/>
          <a:lstStyle/>
          <a:p>
            <a:r>
              <a:rPr lang="en-US" dirty="0" err="1"/>
              <a:t>Wasm</a:t>
            </a:r>
            <a:r>
              <a:rPr lang="en-US" dirty="0"/>
              <a:t> Fuel Consumption equals Computational Progress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Arial monospaced for SAP" panose="020B0609020202030204" pitchFamily="49" charset="0"/>
                <a:cs typeface="Calibri" panose="020F0502020204030204" pitchFamily="34" charset="0"/>
              </a:rPr>
              <a:t>   </a:t>
            </a:r>
            <a:r>
              <a:rPr lang="en-US" sz="2000" dirty="0" err="1">
                <a:latin typeface="Arial monospaced for SAP" panose="020B0609020202030204" pitchFamily="49" charset="0"/>
                <a:cs typeface="Calibri" panose="020F0502020204030204" pitchFamily="34" charset="0"/>
              </a:rPr>
              <a:t>df</a:t>
            </a:r>
            <a:r>
              <a:rPr lang="en-US" sz="2000" dirty="0">
                <a:latin typeface="Arial monospaced for SAP" panose="020B0609020202030204" pitchFamily="49" charset="0"/>
                <a:cs typeface="Calibri" panose="020F0502020204030204" pitchFamily="34" charset="0"/>
              </a:rPr>
              <a:t> := const. Amount of Fuel</a:t>
            </a:r>
            <a:endParaRPr lang="en-US" sz="2000" dirty="0">
              <a:latin typeface="Arial monospaced for SAP" panose="020B0609020202030204" pitchFamily="49" charset="0"/>
            </a:endParaRPr>
          </a:p>
          <a:p>
            <a:pPr marL="0" indent="0">
              <a:buNone/>
            </a:pPr>
            <a:r>
              <a:rPr lang="de-DE" sz="2000" dirty="0">
                <a:latin typeface="Arial monospaced for SAP" panose="020B0609020202030204" pitchFamily="49" charset="0"/>
              </a:rPr>
              <a:t>   </a:t>
            </a:r>
            <a:r>
              <a:rPr lang="de-DE" sz="2000" dirty="0" err="1">
                <a:latin typeface="Arial monospaced for SAP" panose="020B0609020202030204" pitchFamily="49" charset="0"/>
              </a:rPr>
              <a:t>throughput</a:t>
            </a:r>
            <a:r>
              <a:rPr lang="de-DE" sz="2000" dirty="0">
                <a:latin typeface="Arial monospaced for SAP" panose="020B0609020202030204" pitchFamily="49" charset="0"/>
              </a:rPr>
              <a:t> = </a:t>
            </a:r>
            <a:r>
              <a:rPr lang="de-DE" sz="2000" dirty="0" err="1">
                <a:latin typeface="Arial monospaced for SAP" panose="020B0609020202030204" pitchFamily="49" charset="0"/>
              </a:rPr>
              <a:t>df</a:t>
            </a:r>
            <a:r>
              <a:rPr lang="de-DE" sz="2000" dirty="0">
                <a:latin typeface="Arial monospaced for SAP" panose="020B0609020202030204" pitchFamily="49" charset="0"/>
              </a:rPr>
              <a:t>/</a:t>
            </a:r>
            <a:r>
              <a:rPr lang="de-DE" sz="2000" dirty="0" err="1">
                <a:latin typeface="Arial monospaced for SAP" panose="020B0609020202030204" pitchFamily="49" charset="0"/>
              </a:rPr>
              <a:t>dt</a:t>
            </a:r>
            <a:endParaRPr lang="de-DE" sz="2000" dirty="0">
              <a:latin typeface="Arial monospaced for SAP" panose="020B06090202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7686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24BB1B6E-D2FA-0DC4-429C-58F9195FE53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4BE5C48-BBB2-0FAE-2C08-5F056AF4AD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5D27C0D-D8BD-9317-1B59-2F6D37816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Demonstrator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141BAD9-1191-DB49-9F3E-22C90591F4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804A9F-D325-7113-7D8E-E71A0EF979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0A4F872-257C-AD69-13A8-199A62C671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0631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nhaltsplatzhalter 15">
            <a:extLst>
              <a:ext uri="{FF2B5EF4-FFF2-40B4-BE49-F238E27FC236}">
                <a16:creationId xmlns:a16="http://schemas.microsoft.com/office/drawing/2014/main" id="{6651E231-EB8C-3CCD-63E5-4AA5D8B4B1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3081" y="1660937"/>
            <a:ext cx="6674839" cy="4471033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5694794-EFC5-0E98-5376-EF4A83509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 Demonstrator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90DDF9-43A6-CCCA-AB25-F51A0FBD91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B9856E-7B13-A431-C836-843655DF8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6CE557-A8C3-05FF-FB1D-D2BD2E79983C}"/>
              </a:ext>
            </a:extLst>
          </p:cNvPr>
          <p:cNvSpPr txBox="1">
            <a:spLocks/>
          </p:cNvSpPr>
          <p:nvPr/>
        </p:nvSpPr>
        <p:spPr>
          <a:xfrm>
            <a:off x="695326" y="1627200"/>
            <a:ext cx="5621392" cy="48958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Linux based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DLR </a:t>
            </a:r>
            <a:r>
              <a:rPr lang="en-US" dirty="0" err="1"/>
              <a:t>Wasm</a:t>
            </a:r>
            <a:r>
              <a:rPr lang="en-US" dirty="0"/>
              <a:t> Interpreter with a Resumable Fuel Mechanism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 err="1"/>
              <a:t>StressNG</a:t>
            </a:r>
            <a:r>
              <a:rPr lang="en-US" dirty="0"/>
              <a:t> for heavy interference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→ Goal: Show Qualitative Feasibility</a:t>
            </a:r>
          </a:p>
        </p:txBody>
      </p:sp>
    </p:spTree>
    <p:extLst>
      <p:ext uri="{BB962C8B-B14F-4D97-AF65-F5344CB8AC3E}">
        <p14:creationId xmlns:p14="http://schemas.microsoft.com/office/powerpoint/2010/main" val="583166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13CD4B55-1047-2FD2-F3CF-55EF95C4C16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355662-5642-B12C-69AC-C784376E7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B042E62-7AA3-88C4-739A-2644AD081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67C0726-0A71-2716-7785-4E13660254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54439E9-B63B-499D-911A-7BC8059047B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900E625-CEBA-0D2F-970B-F0571D26531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294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AE8956-5264-FAB4-ECA0-811F8B8D2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81ECAB2-2802-9845-116C-564925741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DC709E-BD9B-5E88-CF7A-14D33C07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FCB4D07-AB71-F7F4-1392-7FFEBE854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</a:t>
            </a:r>
            <a:r>
              <a:rPr lang="en-US" dirty="0" err="1"/>
              <a:t>WebAssembly</a:t>
            </a:r>
            <a:r>
              <a:rPr lang="en-US" dirty="0"/>
              <a:t> Fuel be used to detect Multi-Core Interference?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Is the Dynamic Mitigation Strategy effective?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efficient is the Dynamic Mitigation?</a:t>
            </a:r>
          </a:p>
        </p:txBody>
      </p:sp>
    </p:spTree>
    <p:extLst>
      <p:ext uri="{BB962C8B-B14F-4D97-AF65-F5344CB8AC3E}">
        <p14:creationId xmlns:p14="http://schemas.microsoft.com/office/powerpoint/2010/main" val="4215710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123B81-6868-0B9C-E988-B23BBC3E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CF504D-3392-3A06-6B7D-73A1B9A5F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6"/>
            <a:ext cx="10801349" cy="4428999"/>
          </a:xfrm>
        </p:spPr>
        <p:txBody>
          <a:bodyPr/>
          <a:lstStyle/>
          <a:p>
            <a:r>
              <a:rPr lang="en-US" dirty="0"/>
              <a:t>Empirical Evaluation of Computational Throughput </a:t>
            </a:r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→ </a:t>
            </a:r>
            <a:r>
              <a:rPr lang="en-US" dirty="0" err="1"/>
              <a:t>WebAssembly</a:t>
            </a:r>
            <a:r>
              <a:rPr lang="en-US" dirty="0"/>
              <a:t> Fuel can be used to detect Interference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BB8189-44EE-0ADD-DCB9-EC0F671430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CC2F9D5-F373-45EB-3317-1069CD46150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 Interference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6EC5045-685D-8FD3-BE43-91ED3A62A7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28DF06DE-33CB-852B-BD60-331F2AC027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031789"/>
              </p:ext>
            </p:extLst>
          </p:nvPr>
        </p:nvGraphicFramePr>
        <p:xfrm>
          <a:off x="1290688" y="3186941"/>
          <a:ext cx="9610622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56359">
                  <a:extLst>
                    <a:ext uri="{9D8B030D-6E8A-4147-A177-3AD203B41FA5}">
                      <a16:colId xmlns:a16="http://schemas.microsoft.com/office/drawing/2014/main" val="3619621660"/>
                    </a:ext>
                  </a:extLst>
                </a:gridCol>
                <a:gridCol w="2944451">
                  <a:extLst>
                    <a:ext uri="{9D8B030D-6E8A-4147-A177-3AD203B41FA5}">
                      <a16:colId xmlns:a16="http://schemas.microsoft.com/office/drawing/2014/main" val="2186325722"/>
                    </a:ext>
                  </a:extLst>
                </a:gridCol>
                <a:gridCol w="2809812">
                  <a:extLst>
                    <a:ext uri="{9D8B030D-6E8A-4147-A177-3AD203B41FA5}">
                      <a16:colId xmlns:a16="http://schemas.microsoft.com/office/drawing/2014/main" val="3680034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Without Interference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With Interference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406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Mean Throughput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19.8 ns / fuel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29.3 ns / fuel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1554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Median Throughput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9.8 ns / fuel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9.9 ns / fuel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052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Median Throughput, only Outliers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310 ns / fuel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610 ns / fuel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8001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9817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rafik 15">
            <a:extLst>
              <a:ext uri="{FF2B5EF4-FFF2-40B4-BE49-F238E27FC236}">
                <a16:creationId xmlns:a16="http://schemas.microsoft.com/office/drawing/2014/main" id="{9E0763B8-AFF6-CB26-1D80-36D0F0034C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94" y="2040165"/>
            <a:ext cx="8575356" cy="4287678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A21043-28FF-6813-8404-9DF1316E4E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Statistical Evaluation of N = 100 Runs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→ Dynamic Mitigation is effective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0957BA-004B-4C48-55F2-5ED5D143A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16F8AE-D9C1-070B-9F38-78113B7BF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B1BCCF7-C2AA-5CC4-5ED5-CDF1794435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Efficacy 1 / 2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7AD9BD8-D364-1B11-F76E-082A2DD8C20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151399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1FAE200C-9DA3-CC8F-0F62-917887EFB1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669" y="2404959"/>
            <a:ext cx="7620660" cy="38103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29BF25D-6235-7F90-8367-9683E18C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6618A93-DB38-42ED-A165-0AA8D4488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Example: Single Run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1BF0C8D-5C21-ECED-B36C-87D7ABB2DF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719122-EA5E-04B8-3A83-F2786D3B7C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Efficacy 2 / 2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A936233-D0EB-6D86-2D27-0E85BCD3B2E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4527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E9500562-0CA6-BFC3-6909-C2B6890A2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669" y="2404959"/>
            <a:ext cx="7620660" cy="381033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D94FF63-FEDC-6E99-8506-E2A296193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1121B93-A1BC-141A-2108-CD08B8AC1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Mitigation Activity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→ Less than 10% of Compute on secondary Core remaining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89F528-301E-2ED9-7A17-C7B2080252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39208DF-244C-68DD-86FC-26D45E4380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Efficiency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3B71550-30EE-00E3-DBDA-46AF7619AC7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8869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1">
            <a:extLst>
              <a:ext uri="{FF2B5EF4-FFF2-40B4-BE49-F238E27FC236}">
                <a16:creationId xmlns:a16="http://schemas.microsoft.com/office/drawing/2014/main" id="{9CFC919A-4A7C-5B72-55D7-787F76998BE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569E3EB-09E9-B687-5953-9285C88CA9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A8731D4-1A8F-AB8D-B014-B48E85117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&amp; Outlook</a:t>
            </a:r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27F789E-B90B-B0DD-71BA-1B898195A7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E4833A-E628-7C0D-F4E1-BF064CD783B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0DF0350-AD25-DFCE-5DC6-631911CC95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95328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ECF90C-C0DA-A577-A4AC-853D59D4F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BE8E558-61C0-4FD7-F497-D3468DCDF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2095625"/>
            <a:ext cx="10677147" cy="18507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Significant Performance Impact due to Interpretation</a:t>
            </a:r>
          </a:p>
          <a:p>
            <a:endParaRPr lang="en-US" dirty="0"/>
          </a:p>
          <a:p>
            <a:r>
              <a:rPr lang="en-US" dirty="0"/>
              <a:t>Only a single Task at any time can be considered “Critical”</a:t>
            </a:r>
          </a:p>
          <a:p>
            <a:endParaRPr lang="en-US" dirty="0"/>
          </a:p>
          <a:p>
            <a:r>
              <a:rPr lang="en-US" dirty="0"/>
              <a:t>Interference originating from the Hardware (DMA, </a:t>
            </a:r>
            <a:r>
              <a:rPr lang="en-US" dirty="0" err="1"/>
              <a:t>etc</a:t>
            </a:r>
            <a:r>
              <a:rPr lang="en-US" dirty="0"/>
              <a:t>) can not be mitigated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5C94FDC-172E-0ACB-58D4-3515C07D03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6969126F-5597-76CE-078E-75D22F9F9B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General</a:t>
            </a: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0D72CE0-AC49-4974-F1DE-8232A1ABA9B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95325" y="4673892"/>
            <a:ext cx="10677147" cy="185073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Assumption of 1 </a:t>
            </a:r>
            <a:r>
              <a:rPr lang="en-US" dirty="0" err="1"/>
              <a:t>Wasm</a:t>
            </a:r>
            <a:r>
              <a:rPr lang="en-US" dirty="0"/>
              <a:t> Instr. ~ 1 Fuel Unit not accurate</a:t>
            </a:r>
          </a:p>
          <a:p>
            <a:endParaRPr lang="en-US" dirty="0"/>
          </a:p>
          <a:p>
            <a:r>
              <a:rPr lang="en-US" dirty="0"/>
              <a:t>Current Primary and Secondary Test Tasks not realistic</a:t>
            </a:r>
          </a:p>
          <a:p>
            <a:endParaRPr lang="en-US" dirty="0"/>
          </a:p>
          <a:p>
            <a:r>
              <a:rPr lang="en-US" dirty="0"/>
              <a:t>Linux based Demonstrator not a suitable Testbed to answer Questions quantitatively</a:t>
            </a:r>
          </a:p>
          <a:p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85798814-E641-16F4-6B6C-BF17FADE8E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Demonstrator Specific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D36A0E9-3353-D2D1-1A10-86B4C03D6A0E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28731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1CDA15-3B1C-079F-5FCC-1CE5094C4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Outlook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6C8DB3E-5EC2-DE71-838F-BF67954A2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Mitigation is promising, but much more Research is necessary</a:t>
            </a:r>
          </a:p>
          <a:p>
            <a:endParaRPr lang="en-US" dirty="0"/>
          </a:p>
          <a:p>
            <a:r>
              <a:rPr lang="en-US" dirty="0"/>
              <a:t>Future Work:</a:t>
            </a:r>
          </a:p>
          <a:p>
            <a:endParaRPr lang="en-US" dirty="0"/>
          </a:p>
          <a:p>
            <a:pPr lvl="1"/>
            <a:r>
              <a:rPr lang="en-US" dirty="0"/>
              <a:t>Port Demonstrator to Bare-Metal setup with proper Tracing</a:t>
            </a:r>
          </a:p>
          <a:p>
            <a:pPr lvl="1"/>
            <a:r>
              <a:rPr lang="en-US" dirty="0"/>
              <a:t>Switch Test Tasks for more realistic, or more nuanced Tasks</a:t>
            </a:r>
          </a:p>
          <a:p>
            <a:pPr lvl="1"/>
            <a:endParaRPr lang="en-US" dirty="0"/>
          </a:p>
          <a:p>
            <a:r>
              <a:rPr lang="en-US" dirty="0"/>
              <a:t>Next Research Requestion: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→ Does this Dynamic Mitigation Approach entail any Temporal Guarantees? </a:t>
            </a:r>
          </a:p>
          <a:p>
            <a:endParaRPr lang="en-US" dirty="0"/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DC783D-49B2-A224-18C2-AF3B148220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C7E9FD-6D9F-F544-53DF-5F6ED6B32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467978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1">
            <a:extLst>
              <a:ext uri="{FF2B5EF4-FFF2-40B4-BE49-F238E27FC236}">
                <a16:creationId xmlns:a16="http://schemas.microsoft.com/office/drawing/2014/main" id="{7B4EA774-811D-49A6-B74B-5FDAE494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Imprint</a:t>
            </a:r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EA537F64-230B-42FD-89E7-DE3CBE57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325" y="1627200"/>
            <a:ext cx="10801349" cy="4895850"/>
          </a:xfrm>
        </p:spPr>
        <p:txBody>
          <a:bodyPr/>
          <a:lstStyle/>
          <a:p>
            <a:pPr marL="2095500" indent="-2095500" defTabSz="1616075">
              <a:buNone/>
            </a:pPr>
            <a:r>
              <a:rPr lang="de-DE" dirty="0"/>
              <a:t>Topic: 	</a:t>
            </a:r>
            <a:r>
              <a:rPr lang="en-US" b="1" dirty="0"/>
              <a:t>Dynamic Mitigation of Multi-Core Interference in Safety-Critical Systems</a:t>
            </a:r>
            <a:br>
              <a:rPr lang="de-DE" dirty="0"/>
            </a:br>
            <a:r>
              <a:rPr lang="de-DE" dirty="0"/>
              <a:t>Date:	2026-02-19</a:t>
            </a:r>
          </a:p>
          <a:p>
            <a:pPr marL="2095500" indent="-2095500" defTabSz="1616075">
              <a:buNone/>
            </a:pPr>
            <a:r>
              <a:rPr lang="de-DE" dirty="0" err="1"/>
              <a:t>Author</a:t>
            </a:r>
            <a:r>
              <a:rPr lang="de-DE" dirty="0"/>
              <a:t>:	Moritz Meier</a:t>
            </a:r>
          </a:p>
          <a:p>
            <a:pPr marL="2095500" indent="-2095500" defTabSz="1616075">
              <a:buNone/>
            </a:pPr>
            <a:r>
              <a:rPr lang="de-DE" dirty="0"/>
              <a:t>	Wanja </a:t>
            </a:r>
            <a:r>
              <a:rPr lang="de-DE" dirty="0" err="1"/>
              <a:t>Zaeske</a:t>
            </a:r>
            <a:endParaRPr lang="de-DE" dirty="0"/>
          </a:p>
          <a:p>
            <a:pPr marL="2095500" indent="-2095500" defTabSz="1616075">
              <a:buNone/>
            </a:pPr>
            <a:r>
              <a:rPr lang="de-DE" dirty="0"/>
              <a:t>	Umut Durak</a:t>
            </a:r>
          </a:p>
          <a:p>
            <a:pPr marL="2095500" indent="-2095500" defTabSz="1616075">
              <a:buNone/>
            </a:pPr>
            <a:r>
              <a:rPr lang="de-DE" dirty="0"/>
              <a:t>Institute:	Flight Systems (Braunschweig)</a:t>
            </a:r>
          </a:p>
          <a:p>
            <a:pPr marL="2095500" indent="-2095500" defTabSz="1616075">
              <a:buNone/>
            </a:pPr>
            <a:endParaRPr lang="de-DE" dirty="0"/>
          </a:p>
          <a:p>
            <a:pPr marL="2095500" indent="-2095500" defTabSz="1616075">
              <a:buNone/>
            </a:pPr>
            <a:r>
              <a:rPr lang="en-US" dirty="0"/>
              <a:t>Image sources:	All images </a:t>
            </a:r>
            <a:r>
              <a:rPr lang="de-DE" dirty="0"/>
              <a:t>“</a:t>
            </a:r>
            <a:r>
              <a:rPr lang="en-US" dirty="0"/>
              <a:t>DLR (CC BY-NC-ND 3.0)</a:t>
            </a:r>
            <a:r>
              <a:rPr lang="de-DE" dirty="0"/>
              <a:t>”</a:t>
            </a:r>
            <a:r>
              <a:rPr lang="en-US" dirty="0"/>
              <a:t> unless otherwise stated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3D0EFD3-8E7B-77B0-FB7C-244F1E7C3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Moritz Meier, Institute of Flight Systems, 10.02.2026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647D745-40ED-A9D3-7068-4F807F316B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ADABB7-F9A6-4A4D-9415-296AC5E687F8}" type="slidenum">
              <a:rPr lang="de-DE" smtClean="0"/>
              <a:pPr/>
              <a:t>29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458989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DLR">
      <a:dk1>
        <a:srgbClr val="000000"/>
      </a:dk1>
      <a:lt1>
        <a:srgbClr val="FFFFFF"/>
      </a:lt1>
      <a:dk2>
        <a:srgbClr val="464646"/>
      </a:dk2>
      <a:lt2>
        <a:srgbClr val="FFFFFF"/>
      </a:lt2>
      <a:accent1>
        <a:srgbClr val="00658B"/>
      </a:accent1>
      <a:accent2>
        <a:srgbClr val="F8DE53"/>
      </a:accent2>
      <a:accent3>
        <a:srgbClr val="0094A8"/>
      </a:accent3>
      <a:accent4>
        <a:srgbClr val="B7D260"/>
      </a:accent4>
      <a:accent5>
        <a:srgbClr val="5F98CB"/>
      </a:accent5>
      <a:accent6>
        <a:srgbClr val="B1B1B1"/>
      </a:accent6>
      <a:hlink>
        <a:srgbClr val="00B0F0"/>
      </a:hlink>
      <a:folHlink>
        <a:srgbClr val="00658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Blau 1">
      <a:srgbClr val="00658B"/>
    </a:custClr>
    <a:custClr name="Blau 2">
      <a:srgbClr val="3B98CB"/>
    </a:custClr>
    <a:custClr name="Blau 3">
      <a:srgbClr val="6CB9DC"/>
    </a:custClr>
    <a:custClr name="Blau 4">
      <a:srgbClr val="A7D3EC"/>
    </a:custClr>
    <a:custClr name="Blau 5">
      <a:srgbClr val="D1E8FA"/>
    </a:custClr>
    <a:custClr name="Gelb 1">
      <a:srgbClr val="D2AE3D"/>
    </a:custClr>
    <a:custClr name="Gelb 2">
      <a:srgbClr val="F2CD51"/>
    </a:custClr>
    <a:custClr name="Gelb 3">
      <a:srgbClr val="F8DE53"/>
    </a:custClr>
    <a:custClr name="Gelb 4">
      <a:srgbClr val="FCEA7A"/>
    </a:custClr>
    <a:custClr name="Gelb 5">
      <a:srgbClr val="FFF8BE"/>
    </a:custClr>
    <a:custClr name="Grün 1">
      <a:srgbClr val="82A043"/>
    </a:custClr>
    <a:custClr name="Grün 2">
      <a:srgbClr val="A6BF51"/>
    </a:custClr>
    <a:custClr name="Grün 3">
      <a:srgbClr val="CAD55C"/>
    </a:custClr>
    <a:custClr name="Grün 4">
      <a:srgbClr val="D9DF78"/>
    </a:custClr>
    <a:custClr name="Grün 5">
      <a:srgbClr val="E6EAAF"/>
    </a:custClr>
    <a:custClr name="Grau 1">
      <a:srgbClr val="666666"/>
    </a:custClr>
    <a:custClr name="Grau 2">
      <a:srgbClr val="868585"/>
    </a:custClr>
    <a:custClr name="Grau 3">
      <a:srgbClr val="B1B1B1"/>
    </a:custClr>
    <a:custClr name="Grau 4">
      <a:srgbClr val="CFCFCF"/>
    </a:custClr>
    <a:custClr name="Grau 5">
      <a:srgbClr val="EBEBEB"/>
    </a:custClr>
  </a:custClrLst>
  <a:extLst>
    <a:ext uri="{05A4C25C-085E-4340-85A3-A5531E510DB2}">
      <thm15:themeFamily xmlns:thm15="http://schemas.microsoft.com/office/thememl/2012/main" name="DLR-PPT-Master_1.30_EN.pptx" id="{6250988B-F8D4-4672-99CB-10E86376C3D6}" vid="{13BA9046-8FD7-4B45-83ED-4CF3CC1D07E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DLR_Präsentation_16zu9_EN</Template>
  <TotalTime>0</TotalTime>
  <Words>1263</Words>
  <Application>Microsoft Office PowerPoint</Application>
  <PresentationFormat>Breitbild</PresentationFormat>
  <Paragraphs>323</Paragraphs>
  <Slides>29</Slides>
  <Notes>20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29</vt:i4>
      </vt:variant>
    </vt:vector>
  </HeadingPairs>
  <TitlesOfParts>
    <vt:vector size="34" baseType="lpstr">
      <vt:lpstr>Arial</vt:lpstr>
      <vt:lpstr>Arial monospaced for SAP</vt:lpstr>
      <vt:lpstr>Calibri</vt:lpstr>
      <vt:lpstr>Wingdings</vt:lpstr>
      <vt:lpstr>Office</vt:lpstr>
      <vt:lpstr>Dynamic Multi-core Interference Mitigation</vt:lpstr>
      <vt:lpstr>Agenda</vt:lpstr>
      <vt:lpstr>Multi-Core ArchitectureS</vt:lpstr>
      <vt:lpstr>Multi-Core Architectures</vt:lpstr>
      <vt:lpstr>Multi-Core Interference</vt:lpstr>
      <vt:lpstr>Multi-Core Interference</vt:lpstr>
      <vt:lpstr>Mitigation Strategies</vt:lpstr>
      <vt:lpstr>Mitigation Strategies</vt:lpstr>
      <vt:lpstr>Mitigation Strategies</vt:lpstr>
      <vt:lpstr>Mitigation Strategies</vt:lpstr>
      <vt:lpstr>Mitigation Strategies</vt:lpstr>
      <vt:lpstr>Mitigation Strategies</vt:lpstr>
      <vt:lpstr>Mitigation Strategies</vt:lpstr>
      <vt:lpstr>Dynamic mitigation with WebAssembly</vt:lpstr>
      <vt:lpstr>WebAssembly</vt:lpstr>
      <vt:lpstr>WebAssembly</vt:lpstr>
      <vt:lpstr>Dynamic Mitigation with WebAssembly</vt:lpstr>
      <vt:lpstr>Concept Demonstrator</vt:lpstr>
      <vt:lpstr>Concept Demonstrator</vt:lpstr>
      <vt:lpstr>Evaluation</vt:lpstr>
      <vt:lpstr>Evaluation</vt:lpstr>
      <vt:lpstr>Evaluation</vt:lpstr>
      <vt:lpstr>Evaluation</vt:lpstr>
      <vt:lpstr>Evaluation</vt:lpstr>
      <vt:lpstr>Evaluation</vt:lpstr>
      <vt:lpstr>Limitations &amp; Outlook</vt:lpstr>
      <vt:lpstr>Limitations</vt:lpstr>
      <vt:lpstr>Outlook</vt:lpstr>
      <vt:lpstr>Imprint</vt:lpstr>
    </vt:vector>
  </TitlesOfParts>
  <Company>DLR e.V.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Meier, Moritz Alexander</dc:creator>
  <cp:lastModifiedBy>Meier, Moritz Alexander</cp:lastModifiedBy>
  <cp:revision>195</cp:revision>
  <dcterms:created xsi:type="dcterms:W3CDTF">2026-02-10T14:09:46Z</dcterms:created>
  <dcterms:modified xsi:type="dcterms:W3CDTF">2026-02-23T22:46:44Z</dcterms:modified>
</cp:coreProperties>
</file>